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2" r:id="rId4"/>
    <p:sldId id="260" r:id="rId5"/>
    <p:sldId id="261"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DE49C4-0E52-B947-9754-BBC1EEAF8EF5}" v="173" dt="2026-05-05T23:48:42.830"/>
    <p1510:client id="{67AD4063-294F-07EC-5988-8EE46E82304D}" v="87" dt="2026-05-05T23:57:02.926"/>
    <p1510:client id="{C073B2B8-A616-CF55-428B-7B3AFF89AF1A}" v="2" dt="2026-05-05T23:59:01.269"/>
    <p1510:client id="{DDA48C50-78A6-889E-54E6-D3CC08D1D641}" v="12" dt="2026-05-05T06:49:27.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figma.com/proto/cQJASUKAZQzINnzF0PueTR/Campus-Gym-Buddy?node-id=242-18&amp;t=8YHoPUfjckIVrS7C-1&amp;scaling=contain&amp;content-scaling=fixed&amp;page-id=2%3A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pixabay.com/en/stick-man-boy-guy-male-figure-35185/"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772400" y="-1097280"/>
            <a:ext cx="5029200" cy="5029200"/>
          </a:xfrm>
          <a:prstGeom prst="ellipse">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Oval 3"/>
          <p:cNvSpPr/>
          <p:nvPr/>
        </p:nvSpPr>
        <p:spPr>
          <a:xfrm>
            <a:off x="8961120" y="3657600"/>
            <a:ext cx="3200400" cy="3200400"/>
          </a:xfrm>
          <a:prstGeom prst="ellipse">
            <a:avLst/>
          </a:prstGeom>
          <a:solidFill>
            <a:srgbClr val="06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00155" y="15274"/>
            <a:ext cx="2315980" cy="30777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 y="0"/>
            <a:ext cx="2502610" cy="307777"/>
          </a:xfrm>
          <a:prstGeom prst="rect">
            <a:avLst/>
          </a:prstGeom>
          <a:noFill/>
        </p:spPr>
        <p:txBody>
          <a:bodyPr wrap="square" lIns="91440" tIns="45720" rIns="91440" bIns="45720" anchor="t">
            <a:spAutoFit/>
          </a:bodyPr>
          <a:lstStyle/>
          <a:p>
            <a:pPr algn="ctr"/>
            <a:r>
              <a:rPr sz="1400" b="1" i="0">
                <a:solidFill>
                  <a:srgbClr val="FFFFFF"/>
                </a:solidFill>
              </a:rPr>
              <a:t>STUDENT FITNESS PLATFORM</a:t>
            </a:r>
            <a:endParaRPr lang="en-US" sz="1400" b="1" i="0">
              <a:solidFill>
                <a:srgbClr val="FFFFFF"/>
              </a:solidFill>
              <a:ea typeface="Calibri"/>
              <a:cs typeface="Calibri"/>
            </a:endParaRPr>
          </a:p>
        </p:txBody>
      </p:sp>
      <p:sp>
        <p:nvSpPr>
          <p:cNvPr id="8" name="TextBox 7"/>
          <p:cNvSpPr txBox="1"/>
          <p:nvPr/>
        </p:nvSpPr>
        <p:spPr>
          <a:xfrm>
            <a:off x="54865" y="264498"/>
            <a:ext cx="6425716" cy="923330"/>
          </a:xfrm>
          <a:prstGeom prst="rect">
            <a:avLst/>
          </a:prstGeom>
          <a:noFill/>
        </p:spPr>
        <p:txBody>
          <a:bodyPr wrap="square">
            <a:spAutoFit/>
          </a:bodyPr>
          <a:lstStyle/>
          <a:p>
            <a:r>
              <a:rPr lang="en-US" sz="5400" b="1">
                <a:solidFill>
                  <a:schemeClr val="bg1"/>
                </a:solidFill>
                <a:latin typeface="Aptos Display" pitchFamily="34" charset="0"/>
                <a:ea typeface="Aptos Display" pitchFamily="34" charset="-122"/>
                <a:cs typeface="Aptos Display" pitchFamily="34" charset="-120"/>
              </a:rPr>
              <a:t>Campus Gym Buddy</a:t>
            </a:r>
            <a:endParaRPr lang="en-US" sz="5400">
              <a:solidFill>
                <a:schemeClr val="bg1"/>
              </a:solidFill>
            </a:endParaRPr>
          </a:p>
        </p:txBody>
      </p:sp>
      <p:sp>
        <p:nvSpPr>
          <p:cNvPr id="10" name="TextBox 9"/>
          <p:cNvSpPr txBox="1"/>
          <p:nvPr/>
        </p:nvSpPr>
        <p:spPr>
          <a:xfrm>
            <a:off x="461068" y="1009103"/>
            <a:ext cx="5390924" cy="323165"/>
          </a:xfrm>
          <a:prstGeom prst="rect">
            <a:avLst/>
          </a:prstGeom>
          <a:noFill/>
        </p:spPr>
        <p:txBody>
          <a:bodyPr wrap="square">
            <a:spAutoFit/>
          </a:bodyPr>
          <a:lstStyle/>
          <a:p>
            <a:pPr algn="l"/>
            <a:r>
              <a:rPr sz="1500" b="0" i="1">
                <a:solidFill>
                  <a:srgbClr val="94A3B8"/>
                </a:solidFill>
              </a:rPr>
              <a:t>Connecting students. Building consistency. Making fitness social.</a:t>
            </a:r>
          </a:p>
        </p:txBody>
      </p:sp>
      <p:sp>
        <p:nvSpPr>
          <p:cNvPr id="11" name="Rectangle 10"/>
          <p:cNvSpPr/>
          <p:nvPr/>
        </p:nvSpPr>
        <p:spPr>
          <a:xfrm>
            <a:off x="109728" y="6217920"/>
            <a:ext cx="12079224" cy="6400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Created by Brian Barrios-Hernandez, Md Usman Goni, and Pablo Jacome (Team 10)</a:t>
            </a:r>
            <a:endParaRPr/>
          </a:p>
        </p:txBody>
      </p:sp>
      <p:sp>
        <p:nvSpPr>
          <p:cNvPr id="13" name="TextBox 12"/>
          <p:cNvSpPr txBox="1"/>
          <p:nvPr/>
        </p:nvSpPr>
        <p:spPr>
          <a:xfrm>
            <a:off x="10789920" y="6263640"/>
            <a:ext cx="1097280" cy="502920"/>
          </a:xfrm>
          <a:prstGeom prst="rect">
            <a:avLst/>
          </a:prstGeom>
          <a:noFill/>
        </p:spPr>
        <p:txBody>
          <a:bodyPr wrap="square">
            <a:spAutoFit/>
          </a:bodyPr>
          <a:lstStyle/>
          <a:p>
            <a:pPr algn="r"/>
            <a:r>
              <a:rPr sz="1300" b="1" i="0">
                <a:solidFill>
                  <a:srgbClr val="FF6B35"/>
                </a:solidFill>
              </a:rPr>
              <a:t>2026</a:t>
            </a:r>
          </a:p>
        </p:txBody>
      </p:sp>
      <p:sp>
        <p:nvSpPr>
          <p:cNvPr id="19" name="TextBox 18">
            <a:extLst>
              <a:ext uri="{FF2B5EF4-FFF2-40B4-BE49-F238E27FC236}">
                <a16:creationId xmlns:a16="http://schemas.microsoft.com/office/drawing/2014/main" id="{E4D3BF00-42F9-A3D5-7219-D544CBAC1583}"/>
              </a:ext>
            </a:extLst>
          </p:cNvPr>
          <p:cNvSpPr txBox="1"/>
          <p:nvPr/>
        </p:nvSpPr>
        <p:spPr>
          <a:xfrm>
            <a:off x="54864" y="1386023"/>
            <a:ext cx="6557290" cy="369332"/>
          </a:xfrm>
          <a:prstGeom prst="rect">
            <a:avLst/>
          </a:prstGeom>
          <a:noFill/>
        </p:spPr>
        <p:txBody>
          <a:bodyPr wrap="square">
            <a:spAutoFit/>
          </a:bodyPr>
          <a:lstStyle/>
          <a:p>
            <a:pPr marL="0" indent="0">
              <a:buNone/>
            </a:pPr>
            <a:r>
              <a:rPr lang="en-US" sz="1800" b="1">
                <a:solidFill>
                  <a:srgbClr val="7030A0"/>
                </a:solidFill>
                <a:latin typeface="Aptos Display" pitchFamily="34" charset="0"/>
                <a:ea typeface="Aptos Display" pitchFamily="34" charset="-122"/>
                <a:cs typeface="Aptos Display" pitchFamily="34" charset="-120"/>
              </a:rPr>
              <a:t>Business Need</a:t>
            </a:r>
            <a:endParaRPr lang="en-US" sz="1800">
              <a:solidFill>
                <a:srgbClr val="7030A0"/>
              </a:solidFill>
            </a:endParaRPr>
          </a:p>
        </p:txBody>
      </p:sp>
      <p:sp>
        <p:nvSpPr>
          <p:cNvPr id="21" name="TextBox 20">
            <a:extLst>
              <a:ext uri="{FF2B5EF4-FFF2-40B4-BE49-F238E27FC236}">
                <a16:creationId xmlns:a16="http://schemas.microsoft.com/office/drawing/2014/main" id="{6BC3E40C-DF61-304F-99F6-3DE2CB27F47C}"/>
              </a:ext>
            </a:extLst>
          </p:cNvPr>
          <p:cNvSpPr txBox="1"/>
          <p:nvPr/>
        </p:nvSpPr>
        <p:spPr>
          <a:xfrm>
            <a:off x="277697" y="1663937"/>
            <a:ext cx="6557290" cy="1200329"/>
          </a:xfrm>
          <a:prstGeom prst="rect">
            <a:avLst/>
          </a:prstGeom>
          <a:noFill/>
        </p:spPr>
        <p:txBody>
          <a:bodyPr wrap="square">
            <a:spAutoFit/>
          </a:bodyPr>
          <a:lstStyle/>
          <a:p>
            <a:pPr marL="0" indent="0">
              <a:buNone/>
            </a:pPr>
            <a:r>
              <a:rPr lang="en-US" sz="1800">
                <a:solidFill>
                  <a:schemeClr val="bg1"/>
                </a:solidFill>
                <a:latin typeface="Aptos" pitchFamily="34" charset="0"/>
                <a:ea typeface="Aptos" pitchFamily="34" charset="-122"/>
                <a:cs typeface="Aptos" pitchFamily="34" charset="-120"/>
              </a:rPr>
              <a:t>Many students have access to the campus gym, but they may avoid going because they feel uncomfortable working out alone, lack confidence, or cannot easily find workout partners with similar goals.</a:t>
            </a:r>
            <a:endParaRPr lang="en-US" sz="1800">
              <a:solidFill>
                <a:schemeClr val="bg1"/>
              </a:solidFill>
            </a:endParaRPr>
          </a:p>
        </p:txBody>
      </p:sp>
      <p:sp>
        <p:nvSpPr>
          <p:cNvPr id="23" name="TextBox 22">
            <a:extLst>
              <a:ext uri="{FF2B5EF4-FFF2-40B4-BE49-F238E27FC236}">
                <a16:creationId xmlns:a16="http://schemas.microsoft.com/office/drawing/2014/main" id="{546A869E-8EA3-14C3-6510-B741D5F4BAEE}"/>
              </a:ext>
            </a:extLst>
          </p:cNvPr>
          <p:cNvSpPr txBox="1"/>
          <p:nvPr/>
        </p:nvSpPr>
        <p:spPr>
          <a:xfrm>
            <a:off x="82296" y="2956712"/>
            <a:ext cx="6557290" cy="369332"/>
          </a:xfrm>
          <a:prstGeom prst="rect">
            <a:avLst/>
          </a:prstGeom>
          <a:noFill/>
        </p:spPr>
        <p:txBody>
          <a:bodyPr wrap="square">
            <a:spAutoFit/>
          </a:bodyPr>
          <a:lstStyle/>
          <a:p>
            <a:pPr marL="0" indent="0">
              <a:buNone/>
            </a:pPr>
            <a:r>
              <a:rPr lang="en-US" sz="1800" b="1">
                <a:solidFill>
                  <a:srgbClr val="00B050"/>
                </a:solidFill>
                <a:latin typeface="Aptos Display" pitchFamily="34" charset="0"/>
                <a:ea typeface="Aptos Display" pitchFamily="34" charset="-122"/>
                <a:cs typeface="Aptos Display" pitchFamily="34" charset="-120"/>
              </a:rPr>
              <a:t>System Solution</a:t>
            </a:r>
            <a:endParaRPr lang="en-US" sz="1800">
              <a:solidFill>
                <a:srgbClr val="00B050"/>
              </a:solidFill>
            </a:endParaRPr>
          </a:p>
        </p:txBody>
      </p:sp>
      <p:sp>
        <p:nvSpPr>
          <p:cNvPr id="25" name="TextBox 24">
            <a:extLst>
              <a:ext uri="{FF2B5EF4-FFF2-40B4-BE49-F238E27FC236}">
                <a16:creationId xmlns:a16="http://schemas.microsoft.com/office/drawing/2014/main" id="{B79C5957-62BC-373F-298F-F628F52D2649}"/>
              </a:ext>
            </a:extLst>
          </p:cNvPr>
          <p:cNvSpPr txBox="1"/>
          <p:nvPr/>
        </p:nvSpPr>
        <p:spPr>
          <a:xfrm>
            <a:off x="277697" y="3195935"/>
            <a:ext cx="6557290" cy="923330"/>
          </a:xfrm>
          <a:prstGeom prst="rect">
            <a:avLst/>
          </a:prstGeom>
          <a:noFill/>
        </p:spPr>
        <p:txBody>
          <a:bodyPr wrap="square">
            <a:spAutoFit/>
          </a:bodyPr>
          <a:lstStyle/>
          <a:p>
            <a:pPr marL="0" indent="0">
              <a:buNone/>
            </a:pPr>
            <a:r>
              <a:rPr lang="en-US" sz="1800">
                <a:solidFill>
                  <a:schemeClr val="bg1"/>
                </a:solidFill>
                <a:latin typeface="Aptos" pitchFamily="34" charset="0"/>
                <a:ea typeface="Aptos" pitchFamily="34" charset="-122"/>
                <a:cs typeface="Aptos" pitchFamily="34" charset="-120"/>
              </a:rPr>
              <a:t>Campus Gym Buddy gives verified students a safe platform to create profiles, join small workout groups, match by goals and skill level, and schedule gym sessions.</a:t>
            </a:r>
            <a:endParaRPr lang="en-US" sz="1800">
              <a:solidFill>
                <a:schemeClr val="bg1"/>
              </a:solidFill>
            </a:endParaRPr>
          </a:p>
        </p:txBody>
      </p:sp>
      <p:sp>
        <p:nvSpPr>
          <p:cNvPr id="27" name="TextBox 26">
            <a:extLst>
              <a:ext uri="{FF2B5EF4-FFF2-40B4-BE49-F238E27FC236}">
                <a16:creationId xmlns:a16="http://schemas.microsoft.com/office/drawing/2014/main" id="{9B81CFE8-39AF-B41A-E84A-75224E12BE73}"/>
              </a:ext>
            </a:extLst>
          </p:cNvPr>
          <p:cNvSpPr txBox="1"/>
          <p:nvPr/>
        </p:nvSpPr>
        <p:spPr>
          <a:xfrm>
            <a:off x="82296" y="4217984"/>
            <a:ext cx="6557290" cy="369332"/>
          </a:xfrm>
          <a:prstGeom prst="rect">
            <a:avLst/>
          </a:prstGeom>
          <a:noFill/>
        </p:spPr>
        <p:txBody>
          <a:bodyPr wrap="square">
            <a:spAutoFit/>
          </a:bodyPr>
          <a:lstStyle/>
          <a:p>
            <a:pPr marL="0" indent="0">
              <a:buNone/>
            </a:pPr>
            <a:r>
              <a:rPr lang="en-US" sz="1800" b="1">
                <a:solidFill>
                  <a:schemeClr val="accent5">
                    <a:lumMod val="75000"/>
                  </a:schemeClr>
                </a:solidFill>
                <a:latin typeface="Aptos Display" pitchFamily="34" charset="0"/>
                <a:ea typeface="Aptos Display" pitchFamily="34" charset="-122"/>
                <a:cs typeface="Aptos Display" pitchFamily="34" charset="-120"/>
              </a:rPr>
              <a:t>Key Benefits</a:t>
            </a:r>
            <a:endParaRPr lang="en-US" sz="1800">
              <a:solidFill>
                <a:schemeClr val="accent5">
                  <a:lumMod val="75000"/>
                </a:schemeClr>
              </a:solidFill>
            </a:endParaRPr>
          </a:p>
        </p:txBody>
      </p:sp>
      <p:sp>
        <p:nvSpPr>
          <p:cNvPr id="29" name="TextBox 28">
            <a:extLst>
              <a:ext uri="{FF2B5EF4-FFF2-40B4-BE49-F238E27FC236}">
                <a16:creationId xmlns:a16="http://schemas.microsoft.com/office/drawing/2014/main" id="{D69BAF01-E02E-4922-715B-55E61385731C}"/>
              </a:ext>
            </a:extLst>
          </p:cNvPr>
          <p:cNvSpPr txBox="1"/>
          <p:nvPr/>
        </p:nvSpPr>
        <p:spPr>
          <a:xfrm>
            <a:off x="277697" y="4450934"/>
            <a:ext cx="6557290" cy="1477328"/>
          </a:xfrm>
          <a:prstGeom prst="rect">
            <a:avLst/>
          </a:prstGeom>
          <a:noFill/>
        </p:spPr>
        <p:txBody>
          <a:bodyPr wrap="square">
            <a:spAutoFit/>
          </a:bodyPr>
          <a:lstStyle/>
          <a:p>
            <a:pPr marL="0" indent="0">
              <a:buNone/>
            </a:pPr>
            <a:r>
              <a:rPr lang="en-US" sz="1800">
                <a:solidFill>
                  <a:schemeClr val="bg1"/>
                </a:solidFill>
                <a:latin typeface="Aptos" pitchFamily="34" charset="0"/>
                <a:ea typeface="Aptos" pitchFamily="34" charset="-122"/>
                <a:cs typeface="Aptos" pitchFamily="34" charset="-120"/>
              </a:rPr>
              <a:t>• Increases campus gym participation</a:t>
            </a:r>
            <a:endParaRPr lang="en-US" sz="1800">
              <a:solidFill>
                <a:schemeClr val="bg1"/>
              </a:solidFill>
            </a:endParaRPr>
          </a:p>
          <a:p>
            <a:pPr marL="0" indent="0">
              <a:buNone/>
            </a:pPr>
            <a:r>
              <a:rPr lang="en-US" sz="1800">
                <a:solidFill>
                  <a:schemeClr val="bg1"/>
                </a:solidFill>
                <a:latin typeface="Aptos" pitchFamily="34" charset="0"/>
                <a:ea typeface="Aptos" pitchFamily="34" charset="-122"/>
                <a:cs typeface="Aptos" pitchFamily="34" charset="-120"/>
              </a:rPr>
              <a:t>• Builds motivation and accountability</a:t>
            </a:r>
            <a:endParaRPr lang="en-US" sz="1800">
              <a:solidFill>
                <a:schemeClr val="bg1"/>
              </a:solidFill>
            </a:endParaRPr>
          </a:p>
          <a:p>
            <a:pPr marL="0" indent="0">
              <a:buNone/>
            </a:pPr>
            <a:r>
              <a:rPr lang="en-US" sz="1800">
                <a:solidFill>
                  <a:schemeClr val="bg1"/>
                </a:solidFill>
                <a:latin typeface="Aptos" pitchFamily="34" charset="0"/>
                <a:ea typeface="Aptos" pitchFamily="34" charset="-122"/>
                <a:cs typeface="Aptos" pitchFamily="34" charset="-120"/>
              </a:rPr>
              <a:t>• Creates a stronger campus community</a:t>
            </a:r>
            <a:endParaRPr lang="en-US" sz="1800">
              <a:solidFill>
                <a:schemeClr val="bg1"/>
              </a:solidFill>
            </a:endParaRPr>
          </a:p>
          <a:p>
            <a:pPr marL="0" indent="0">
              <a:buNone/>
            </a:pPr>
            <a:r>
              <a:rPr lang="en-US" sz="1800">
                <a:solidFill>
                  <a:schemeClr val="bg1"/>
                </a:solidFill>
                <a:latin typeface="Aptos" pitchFamily="34" charset="0"/>
                <a:ea typeface="Aptos" pitchFamily="34" charset="-122"/>
                <a:cs typeface="Aptos" pitchFamily="34" charset="-120"/>
              </a:rPr>
              <a:t>• Supports wellness, confidence, and belonging</a:t>
            </a:r>
            <a:endParaRPr lang="en-US" sz="1800">
              <a:solidFill>
                <a:schemeClr val="bg1"/>
              </a:solidFill>
            </a:endParaRPr>
          </a:p>
          <a:p>
            <a:pPr marL="0" indent="0">
              <a:buNone/>
            </a:pPr>
            <a:r>
              <a:rPr lang="en-US" sz="1800">
                <a:solidFill>
                  <a:schemeClr val="bg1"/>
                </a:solidFill>
                <a:latin typeface="Aptos" pitchFamily="34" charset="0"/>
                <a:ea typeface="Aptos" pitchFamily="34" charset="-122"/>
                <a:cs typeface="Aptos" pitchFamily="34" charset="-120"/>
              </a:rPr>
              <a:t>• Improves trust through student verification</a:t>
            </a:r>
            <a:endParaRPr lang="en-US" sz="1800">
              <a:solidFill>
                <a:schemeClr val="bg1"/>
              </a:solidFill>
            </a:endParaRPr>
          </a:p>
        </p:txBody>
      </p:sp>
      <p:pic>
        <p:nvPicPr>
          <p:cNvPr id="34" name="Picture 33">
            <a:extLst>
              <a:ext uri="{FF2B5EF4-FFF2-40B4-BE49-F238E27FC236}">
                <a16:creationId xmlns:a16="http://schemas.microsoft.com/office/drawing/2014/main" id="{FEF2CC99-07C1-3E91-709C-F2B13124525A}"/>
              </a:ext>
            </a:extLst>
          </p:cNvPr>
          <p:cNvPicPr>
            <a:picLocks noChangeAspect="1"/>
          </p:cNvPicPr>
          <p:nvPr/>
        </p:nvPicPr>
        <p:blipFill>
          <a:blip r:embed="rId2"/>
          <a:stretch>
            <a:fillRect/>
          </a:stretch>
        </p:blipFill>
        <p:spPr>
          <a:xfrm>
            <a:off x="8686800" y="-627937"/>
            <a:ext cx="3200400" cy="399907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6" name="Picture 35">
            <a:extLst>
              <a:ext uri="{FF2B5EF4-FFF2-40B4-BE49-F238E27FC236}">
                <a16:creationId xmlns:a16="http://schemas.microsoft.com/office/drawing/2014/main" id="{CD376AB4-40C4-858A-E45A-0CEC55DD14CD}"/>
              </a:ext>
            </a:extLst>
          </p:cNvPr>
          <p:cNvPicPr>
            <a:picLocks noChangeAspect="1"/>
          </p:cNvPicPr>
          <p:nvPr/>
        </p:nvPicPr>
        <p:blipFill>
          <a:blip r:embed="rId3"/>
          <a:stretch>
            <a:fillRect/>
          </a:stretch>
        </p:blipFill>
        <p:spPr>
          <a:xfrm>
            <a:off x="9225632" y="4493752"/>
            <a:ext cx="2730679" cy="1536823"/>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animEffect transition="in" filter="fade">
                                      <p:cBhvr>
                                        <p:cTn id="11" dur="500"/>
                                        <p:tgtEl>
                                          <p:spTgt spid="2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9">
                                            <p:txEl>
                                              <p:pRg st="0" end="0"/>
                                            </p:txEl>
                                          </p:spTgt>
                                        </p:tgtEl>
                                        <p:attrNameLst>
                                          <p:attrName>style.visibility</p:attrName>
                                        </p:attrNameLst>
                                      </p:cBhvr>
                                      <p:to>
                                        <p:strVal val="visible"/>
                                      </p:to>
                                    </p:set>
                                    <p:animEffect transition="in" filter="fade">
                                      <p:cBhvr>
                                        <p:cTn id="29" dur="500"/>
                                        <p:tgtEl>
                                          <p:spTgt spid="2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9">
                                            <p:txEl>
                                              <p:pRg st="1" end="1"/>
                                            </p:txEl>
                                          </p:spTgt>
                                        </p:tgtEl>
                                        <p:attrNameLst>
                                          <p:attrName>style.visibility</p:attrName>
                                        </p:attrNameLst>
                                      </p:cBhvr>
                                      <p:to>
                                        <p:strVal val="visible"/>
                                      </p:to>
                                    </p:set>
                                    <p:animEffect transition="in" filter="fade">
                                      <p:cBhvr>
                                        <p:cTn id="34" dur="500"/>
                                        <p:tgtEl>
                                          <p:spTgt spid="29">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xEl>
                                              <p:pRg st="2" end="2"/>
                                            </p:txEl>
                                          </p:spTgt>
                                        </p:tgtEl>
                                        <p:attrNameLst>
                                          <p:attrName>style.visibility</p:attrName>
                                        </p:attrNameLst>
                                      </p:cBhvr>
                                      <p:to>
                                        <p:strVal val="visible"/>
                                      </p:to>
                                    </p:set>
                                    <p:animEffect transition="in" filter="fade">
                                      <p:cBhvr>
                                        <p:cTn id="39" dur="500"/>
                                        <p:tgtEl>
                                          <p:spTgt spid="29">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9">
                                            <p:txEl>
                                              <p:pRg st="3" end="3"/>
                                            </p:txEl>
                                          </p:spTgt>
                                        </p:tgtEl>
                                        <p:attrNameLst>
                                          <p:attrName>style.visibility</p:attrName>
                                        </p:attrNameLst>
                                      </p:cBhvr>
                                      <p:to>
                                        <p:strVal val="visible"/>
                                      </p:to>
                                    </p:set>
                                    <p:animEffect transition="in" filter="fade">
                                      <p:cBhvr>
                                        <p:cTn id="44" dur="500"/>
                                        <p:tgtEl>
                                          <p:spTgt spid="29">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
                                            <p:txEl>
                                              <p:pRg st="4" end="4"/>
                                            </p:txEl>
                                          </p:spTgt>
                                        </p:tgtEl>
                                        <p:attrNameLst>
                                          <p:attrName>style.visibility</p:attrName>
                                        </p:attrNameLst>
                                      </p:cBhvr>
                                      <p:to>
                                        <p:strVal val="visible"/>
                                      </p:to>
                                    </p:set>
                                    <p:animEffect transition="in" filter="fade">
                                      <p:cBhvr>
                                        <p:cTn id="49" dur="500"/>
                                        <p:tgtEl>
                                          <p:spTgt spid="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5"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228600"/>
            <a:ext cx="64008"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
            <a:ext cx="9144000" cy="523220"/>
          </a:xfrm>
          <a:prstGeom prst="rect">
            <a:avLst/>
          </a:prstGeom>
          <a:noFill/>
        </p:spPr>
        <p:txBody>
          <a:bodyPr wrap="square">
            <a:spAutoFit/>
          </a:bodyPr>
          <a:lstStyle/>
          <a:p>
            <a:pPr algn="l"/>
            <a:r>
              <a:rPr lang="en-US" sz="2800" b="1" i="0">
                <a:solidFill>
                  <a:srgbClr val="FFFFFF"/>
                </a:solidFill>
              </a:rPr>
              <a:t>Information Captured in the Data Model</a:t>
            </a:r>
          </a:p>
        </p:txBody>
      </p:sp>
      <p:sp>
        <p:nvSpPr>
          <p:cNvPr id="5" name="Rectangle 4"/>
          <p:cNvSpPr/>
          <p:nvPr/>
        </p:nvSpPr>
        <p:spPr>
          <a:xfrm>
            <a:off x="457200" y="1814611"/>
            <a:ext cx="2420005" cy="1289620"/>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a:t>Name + email</a:t>
            </a:r>
          </a:p>
          <a:p>
            <a:pPr marL="285750" indent="-285750">
              <a:buFont typeface="Arial" panose="020B0604020202020204" pitchFamily="34" charset="0"/>
              <a:buChar char="•"/>
            </a:pPr>
            <a:r>
              <a:rPr lang="en-US"/>
              <a:t>Skill level</a:t>
            </a:r>
          </a:p>
          <a:p>
            <a:pPr marL="285750" indent="-285750">
              <a:buFont typeface="Arial" panose="020B0604020202020204" pitchFamily="34" charset="0"/>
              <a:buChar char="•"/>
            </a:pPr>
            <a:r>
              <a:rPr lang="en-US"/>
              <a:t>Workout goal</a:t>
            </a:r>
          </a:p>
          <a:p>
            <a:pPr marL="285750" indent="-285750">
              <a:buFont typeface="Arial" panose="020B0604020202020204" pitchFamily="34" charset="0"/>
              <a:buChar char="•"/>
            </a:pPr>
            <a:r>
              <a:rPr lang="en-US"/>
              <a:t>Verification status</a:t>
            </a:r>
            <a:endParaRPr/>
          </a:p>
        </p:txBody>
      </p:sp>
      <p:sp>
        <p:nvSpPr>
          <p:cNvPr id="6" name="Rectangle 5"/>
          <p:cNvSpPr/>
          <p:nvPr/>
        </p:nvSpPr>
        <p:spPr>
          <a:xfrm>
            <a:off x="429767" y="1174176"/>
            <a:ext cx="2447439" cy="268369"/>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rgbClr val="071A33"/>
                </a:solidFill>
                <a:latin typeface="Aptos Display" pitchFamily="34" charset="0"/>
                <a:ea typeface="Aptos Display" pitchFamily="34" charset="-122"/>
                <a:cs typeface="Aptos Display" pitchFamily="34" charset="-120"/>
              </a:rPr>
              <a:t>Student </a:t>
            </a:r>
          </a:p>
        </p:txBody>
      </p:sp>
      <p:sp>
        <p:nvSpPr>
          <p:cNvPr id="14" name="Rectangle 13"/>
          <p:cNvSpPr/>
          <p:nvPr/>
        </p:nvSpPr>
        <p:spPr>
          <a:xfrm>
            <a:off x="484505" y="4576109"/>
            <a:ext cx="2360696" cy="1292773"/>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a:t>Group name</a:t>
            </a:r>
          </a:p>
          <a:p>
            <a:pPr marL="285750" indent="-285750">
              <a:buFont typeface="Arial" panose="020B0604020202020204" pitchFamily="34" charset="0"/>
              <a:buChar char="•"/>
            </a:pPr>
            <a:r>
              <a:rPr lang="en-US"/>
              <a:t>Workout focus</a:t>
            </a:r>
          </a:p>
          <a:p>
            <a:pPr marL="285750" indent="-285750">
              <a:buFont typeface="Arial" panose="020B0604020202020204" pitchFamily="34" charset="0"/>
              <a:buChar char="•"/>
            </a:pPr>
            <a:r>
              <a:rPr lang="en-US"/>
              <a:t>Skill level</a:t>
            </a:r>
          </a:p>
          <a:p>
            <a:pPr marL="285750" indent="-285750">
              <a:buFont typeface="Arial" panose="020B0604020202020204" pitchFamily="34" charset="0"/>
              <a:buChar char="•"/>
            </a:pPr>
            <a:r>
              <a:rPr lang="en-US"/>
              <a:t>Max capacity/status</a:t>
            </a:r>
            <a:endParaRPr/>
          </a:p>
        </p:txBody>
      </p:sp>
      <p:grpSp>
        <p:nvGrpSpPr>
          <p:cNvPr id="71" name="Group 70">
            <a:extLst>
              <a:ext uri="{FF2B5EF4-FFF2-40B4-BE49-F238E27FC236}">
                <a16:creationId xmlns:a16="http://schemas.microsoft.com/office/drawing/2014/main" id="{DEC5E6D4-0F47-A9F1-A29E-E5A39776B85E}"/>
              </a:ext>
            </a:extLst>
          </p:cNvPr>
          <p:cNvGrpSpPr/>
          <p:nvPr/>
        </p:nvGrpSpPr>
        <p:grpSpPr>
          <a:xfrm>
            <a:off x="489202" y="3625441"/>
            <a:ext cx="2355999" cy="369332"/>
            <a:chOff x="489202" y="3625441"/>
            <a:chExt cx="2355999" cy="369332"/>
          </a:xfrm>
        </p:grpSpPr>
        <p:sp>
          <p:nvSpPr>
            <p:cNvPr id="15" name="Rectangle 14"/>
            <p:cNvSpPr/>
            <p:nvPr/>
          </p:nvSpPr>
          <p:spPr>
            <a:xfrm>
              <a:off x="489202" y="3652079"/>
              <a:ext cx="2355999" cy="316055"/>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3605" y="3625441"/>
              <a:ext cx="2188319" cy="369332"/>
            </a:xfrm>
            <a:prstGeom prst="rect">
              <a:avLst/>
            </a:prstGeom>
            <a:noFill/>
          </p:spPr>
          <p:txBody>
            <a:bodyPr wrap="square">
              <a:spAutoFit/>
            </a:bodyPr>
            <a:lstStyle/>
            <a:p>
              <a:pPr algn="ctr"/>
              <a:r>
                <a:rPr lang="en-US" b="1">
                  <a:solidFill>
                    <a:srgbClr val="071A33"/>
                  </a:solidFill>
                  <a:latin typeface="Aptos Display" pitchFamily="34" charset="0"/>
                  <a:ea typeface="Aptos Display" pitchFamily="34" charset="-122"/>
                  <a:cs typeface="Aptos Display" pitchFamily="34" charset="-120"/>
                </a:rPr>
                <a:t>Workout Group</a:t>
              </a:r>
              <a:endParaRPr lang="en-US"/>
            </a:p>
          </p:txBody>
        </p:sp>
      </p:grpSp>
      <p:sp>
        <p:nvSpPr>
          <p:cNvPr id="23" name="Rectangle 22"/>
          <p:cNvSpPr/>
          <p:nvPr/>
        </p:nvSpPr>
        <p:spPr>
          <a:xfrm>
            <a:off x="3282756" y="2016199"/>
            <a:ext cx="2377447" cy="1312217"/>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a:t>Student ID</a:t>
            </a:r>
          </a:p>
          <a:p>
            <a:pPr marL="285750" indent="-285750">
              <a:buFont typeface="Arial" panose="020B0604020202020204" pitchFamily="34" charset="0"/>
              <a:buChar char="•"/>
            </a:pPr>
            <a:r>
              <a:rPr lang="en-US"/>
              <a:t>Group ID</a:t>
            </a:r>
          </a:p>
          <a:p>
            <a:pPr marL="285750" indent="-285750">
              <a:buFont typeface="Arial" panose="020B0604020202020204" pitchFamily="34" charset="0"/>
              <a:buChar char="•"/>
            </a:pPr>
            <a:r>
              <a:rPr lang="en-US"/>
              <a:t>Join date</a:t>
            </a:r>
          </a:p>
          <a:p>
            <a:pPr marL="285750" indent="-285750">
              <a:buFont typeface="Arial" panose="020B0604020202020204" pitchFamily="34" charset="0"/>
              <a:buChar char="•"/>
            </a:pPr>
            <a:r>
              <a:rPr lang="en-US"/>
              <a:t>Member count</a:t>
            </a:r>
            <a:endParaRPr/>
          </a:p>
        </p:txBody>
      </p:sp>
      <p:sp>
        <p:nvSpPr>
          <p:cNvPr id="24" name="Rectangle 23"/>
          <p:cNvSpPr/>
          <p:nvPr/>
        </p:nvSpPr>
        <p:spPr>
          <a:xfrm>
            <a:off x="3294670" y="1159181"/>
            <a:ext cx="2377446" cy="308257"/>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20994" y="1123694"/>
            <a:ext cx="2070196" cy="369332"/>
          </a:xfrm>
          <a:prstGeom prst="rect">
            <a:avLst/>
          </a:prstGeom>
          <a:noFill/>
        </p:spPr>
        <p:txBody>
          <a:bodyPr wrap="square">
            <a:spAutoFit/>
          </a:bodyPr>
          <a:lstStyle/>
          <a:p>
            <a:pPr algn="ctr"/>
            <a:r>
              <a:rPr lang="en-US" b="1">
                <a:solidFill>
                  <a:srgbClr val="071A33"/>
                </a:solidFill>
                <a:latin typeface="Aptos Display" pitchFamily="34" charset="0"/>
                <a:ea typeface="Aptos Display" pitchFamily="34" charset="-122"/>
                <a:cs typeface="Aptos Display" pitchFamily="34" charset="-120"/>
              </a:rPr>
              <a:t>Group Membership</a:t>
            </a:r>
            <a:endParaRPr lang="en-US"/>
          </a:p>
        </p:txBody>
      </p:sp>
      <p:sp>
        <p:nvSpPr>
          <p:cNvPr id="32" name="Rectangle 31"/>
          <p:cNvSpPr/>
          <p:nvPr/>
        </p:nvSpPr>
        <p:spPr>
          <a:xfrm>
            <a:off x="3330933" y="4576108"/>
            <a:ext cx="2329270" cy="1292774"/>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a:t>Session Date</a:t>
            </a:r>
          </a:p>
          <a:p>
            <a:pPr marL="285750" indent="-285750">
              <a:buFont typeface="Arial" panose="020B0604020202020204" pitchFamily="34" charset="0"/>
              <a:buChar char="•"/>
            </a:pPr>
            <a:r>
              <a:rPr lang="en-US"/>
              <a:t>Session time</a:t>
            </a:r>
          </a:p>
          <a:p>
            <a:pPr marL="285750" indent="-285750">
              <a:buFont typeface="Arial" panose="020B0604020202020204" pitchFamily="34" charset="0"/>
              <a:buChar char="•"/>
            </a:pPr>
            <a:r>
              <a:rPr lang="en-US"/>
              <a:t>Location</a:t>
            </a:r>
          </a:p>
          <a:p>
            <a:pPr marL="285750" indent="-285750">
              <a:buFont typeface="Arial" panose="020B0604020202020204" pitchFamily="34" charset="0"/>
              <a:buChar char="•"/>
            </a:pPr>
            <a:r>
              <a:rPr lang="en-US"/>
              <a:t>Assigned group</a:t>
            </a:r>
          </a:p>
        </p:txBody>
      </p:sp>
      <p:sp>
        <p:nvSpPr>
          <p:cNvPr id="33" name="Rectangle 32"/>
          <p:cNvSpPr/>
          <p:nvPr/>
        </p:nvSpPr>
        <p:spPr>
          <a:xfrm>
            <a:off x="3294669" y="3652078"/>
            <a:ext cx="2188319" cy="338491"/>
          </a:xfrm>
          <a:prstGeom prst="rect">
            <a:avLst/>
          </a:prstGeom>
          <a:solidFill>
            <a:srgbClr val="A0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07064" y="3644969"/>
            <a:ext cx="1678712" cy="369332"/>
          </a:xfrm>
          <a:prstGeom prst="rect">
            <a:avLst/>
          </a:prstGeom>
          <a:noFill/>
        </p:spPr>
        <p:txBody>
          <a:bodyPr wrap="square">
            <a:spAutoFit/>
          </a:bodyPr>
          <a:lstStyle/>
          <a:p>
            <a:pPr algn="ctr"/>
            <a:r>
              <a:rPr lang="en-US" b="1">
                <a:solidFill>
                  <a:srgbClr val="071A33"/>
                </a:solidFill>
                <a:latin typeface="Aptos Display" pitchFamily="34" charset="0"/>
                <a:ea typeface="Aptos Display" pitchFamily="34" charset="-122"/>
                <a:cs typeface="Aptos Display" pitchFamily="34" charset="-120"/>
              </a:rPr>
              <a:t>Gym Session</a:t>
            </a:r>
            <a:endParaRPr lang="en-US"/>
          </a:p>
        </p:txBody>
      </p:sp>
      <p:sp>
        <p:nvSpPr>
          <p:cNvPr id="50" name="TextBox 49">
            <a:extLst>
              <a:ext uri="{FF2B5EF4-FFF2-40B4-BE49-F238E27FC236}">
                <a16:creationId xmlns:a16="http://schemas.microsoft.com/office/drawing/2014/main" id="{F25EC224-0D88-4B24-BF3F-E0FFD9297774}"/>
              </a:ext>
            </a:extLst>
          </p:cNvPr>
          <p:cNvSpPr txBox="1"/>
          <p:nvPr/>
        </p:nvSpPr>
        <p:spPr>
          <a:xfrm>
            <a:off x="614671" y="769281"/>
            <a:ext cx="11408735" cy="461665"/>
          </a:xfrm>
          <a:prstGeom prst="rect">
            <a:avLst/>
          </a:prstGeom>
          <a:noFill/>
        </p:spPr>
        <p:txBody>
          <a:bodyPr wrap="square" rtlCol="0">
            <a:spAutoFit/>
          </a:bodyPr>
          <a:lstStyle/>
          <a:p>
            <a:pPr algn="ctr"/>
            <a:r>
              <a:rPr lang="en-US" sz="1600">
                <a:solidFill>
                  <a:schemeClr val="accent5">
                    <a:lumMod val="75000"/>
                  </a:schemeClr>
                </a:solidFill>
                <a:latin typeface="Aptos Display" panose="020B0004020202020204" pitchFamily="34" charset="0"/>
                <a:ea typeface="Aptos" pitchFamily="34" charset="-122"/>
                <a:cs typeface="Aptos" pitchFamily="34" charset="-120"/>
              </a:rPr>
              <a:t>The database stores the information needed to connect students, manage group capacity, track membership, and organize gym sessions.</a:t>
            </a:r>
            <a:endParaRPr lang="en-US" sz="1600">
              <a:solidFill>
                <a:schemeClr val="accent5">
                  <a:lumMod val="75000"/>
                </a:schemeClr>
              </a:solidFill>
              <a:latin typeface="Aptos Display" panose="020B0004020202020204" pitchFamily="34" charset="0"/>
            </a:endParaRPr>
          </a:p>
          <a:p>
            <a:pPr algn="ctr"/>
            <a:endParaRPr lang="en-US" sz="800">
              <a:solidFill>
                <a:schemeClr val="accent5">
                  <a:lumMod val="75000"/>
                </a:schemeClr>
              </a:solidFill>
            </a:endParaRPr>
          </a:p>
        </p:txBody>
      </p:sp>
      <p:sp>
        <p:nvSpPr>
          <p:cNvPr id="54" name="TextBox 53">
            <a:extLst>
              <a:ext uri="{FF2B5EF4-FFF2-40B4-BE49-F238E27FC236}">
                <a16:creationId xmlns:a16="http://schemas.microsoft.com/office/drawing/2014/main" id="{67F4C624-98EF-0A57-206C-750434A3325C}"/>
              </a:ext>
            </a:extLst>
          </p:cNvPr>
          <p:cNvSpPr txBox="1"/>
          <p:nvPr/>
        </p:nvSpPr>
        <p:spPr>
          <a:xfrm>
            <a:off x="365760" y="1445279"/>
            <a:ext cx="2616576" cy="369332"/>
          </a:xfrm>
          <a:prstGeom prst="rect">
            <a:avLst/>
          </a:prstGeom>
          <a:noFill/>
        </p:spPr>
        <p:txBody>
          <a:bodyPr wrap="square">
            <a:spAutoFit/>
          </a:bodyPr>
          <a:lstStyle/>
          <a:p>
            <a:r>
              <a:rPr lang="en-US">
                <a:solidFill>
                  <a:schemeClr val="bg1">
                    <a:lumMod val="65000"/>
                  </a:schemeClr>
                </a:solidFill>
              </a:rPr>
              <a:t>(Who is using the system )</a:t>
            </a:r>
          </a:p>
        </p:txBody>
      </p:sp>
      <p:sp>
        <p:nvSpPr>
          <p:cNvPr id="56" name="TextBox 55">
            <a:extLst>
              <a:ext uri="{FF2B5EF4-FFF2-40B4-BE49-F238E27FC236}">
                <a16:creationId xmlns:a16="http://schemas.microsoft.com/office/drawing/2014/main" id="{3526EB04-E81B-3E4E-44CA-47DF02EA092F}"/>
              </a:ext>
            </a:extLst>
          </p:cNvPr>
          <p:cNvSpPr txBox="1"/>
          <p:nvPr/>
        </p:nvSpPr>
        <p:spPr>
          <a:xfrm>
            <a:off x="397764" y="3990570"/>
            <a:ext cx="2616576" cy="646331"/>
          </a:xfrm>
          <a:prstGeom prst="rect">
            <a:avLst/>
          </a:prstGeom>
          <a:noFill/>
        </p:spPr>
        <p:txBody>
          <a:bodyPr wrap="square">
            <a:spAutoFit/>
          </a:bodyPr>
          <a:lstStyle/>
          <a:p>
            <a:pPr algn="ctr"/>
            <a:r>
              <a:rPr lang="en-US">
                <a:solidFill>
                  <a:srgbClr val="657083"/>
                </a:solidFill>
                <a:latin typeface="Aptos" pitchFamily="34" charset="0"/>
                <a:ea typeface="Aptos" pitchFamily="34" charset="-122"/>
                <a:cs typeface="Aptos" pitchFamily="34" charset="-120"/>
              </a:rPr>
              <a:t>(What group students join)</a:t>
            </a:r>
            <a:endParaRPr lang="en-US"/>
          </a:p>
        </p:txBody>
      </p:sp>
      <p:sp>
        <p:nvSpPr>
          <p:cNvPr id="57" name="TextBox 56">
            <a:extLst>
              <a:ext uri="{FF2B5EF4-FFF2-40B4-BE49-F238E27FC236}">
                <a16:creationId xmlns:a16="http://schemas.microsoft.com/office/drawing/2014/main" id="{332BEA12-0896-AFD8-B378-FBEEE5A17E2E}"/>
              </a:ext>
            </a:extLst>
          </p:cNvPr>
          <p:cNvSpPr txBox="1"/>
          <p:nvPr/>
        </p:nvSpPr>
        <p:spPr>
          <a:xfrm>
            <a:off x="3282755" y="1443491"/>
            <a:ext cx="2420005" cy="646331"/>
          </a:xfrm>
          <a:prstGeom prst="rect">
            <a:avLst/>
          </a:prstGeom>
          <a:noFill/>
        </p:spPr>
        <p:txBody>
          <a:bodyPr wrap="square">
            <a:spAutoFit/>
          </a:bodyPr>
          <a:lstStyle/>
          <a:p>
            <a:pPr algn="ctr"/>
            <a:r>
              <a:rPr lang="en-US">
                <a:solidFill>
                  <a:schemeClr val="bg1">
                    <a:lumMod val="65000"/>
                  </a:schemeClr>
                </a:solidFill>
              </a:rPr>
              <a:t>(Which students joined </a:t>
            </a:r>
          </a:p>
          <a:p>
            <a:pPr algn="ctr"/>
            <a:r>
              <a:rPr lang="en-US">
                <a:solidFill>
                  <a:schemeClr val="bg1">
                    <a:lumMod val="65000"/>
                  </a:schemeClr>
                </a:solidFill>
              </a:rPr>
              <a:t>which groups )</a:t>
            </a:r>
          </a:p>
        </p:txBody>
      </p:sp>
      <p:sp>
        <p:nvSpPr>
          <p:cNvPr id="59" name="TextBox 58">
            <a:extLst>
              <a:ext uri="{FF2B5EF4-FFF2-40B4-BE49-F238E27FC236}">
                <a16:creationId xmlns:a16="http://schemas.microsoft.com/office/drawing/2014/main" id="{651A619F-0453-86C3-54DF-F091D4724AB4}"/>
              </a:ext>
            </a:extLst>
          </p:cNvPr>
          <p:cNvSpPr txBox="1"/>
          <p:nvPr/>
        </p:nvSpPr>
        <p:spPr>
          <a:xfrm>
            <a:off x="3363787" y="3968631"/>
            <a:ext cx="2058283" cy="646331"/>
          </a:xfrm>
          <a:prstGeom prst="rect">
            <a:avLst/>
          </a:prstGeom>
          <a:noFill/>
        </p:spPr>
        <p:txBody>
          <a:bodyPr wrap="square">
            <a:spAutoFit/>
          </a:bodyPr>
          <a:lstStyle/>
          <a:p>
            <a:pPr marL="0" indent="0" algn="ctr">
              <a:buNone/>
            </a:pPr>
            <a:r>
              <a:rPr lang="en-US" sz="1800">
                <a:solidFill>
                  <a:srgbClr val="657083"/>
                </a:solidFill>
                <a:latin typeface="Aptos" pitchFamily="34" charset="0"/>
                <a:ea typeface="Aptos" pitchFamily="34" charset="-122"/>
                <a:cs typeface="Aptos" pitchFamily="34" charset="-120"/>
              </a:rPr>
              <a:t>(When and where groups meet)</a:t>
            </a:r>
            <a:endParaRPr lang="en-US" sz="1800"/>
          </a:p>
        </p:txBody>
      </p:sp>
      <p:sp>
        <p:nvSpPr>
          <p:cNvPr id="60" name="Rectangle 59">
            <a:extLst>
              <a:ext uri="{FF2B5EF4-FFF2-40B4-BE49-F238E27FC236}">
                <a16:creationId xmlns:a16="http://schemas.microsoft.com/office/drawing/2014/main" id="{6925E83D-9E8F-795A-29D2-3CF1DA4B6852}"/>
              </a:ext>
            </a:extLst>
          </p:cNvPr>
          <p:cNvSpPr/>
          <p:nvPr/>
        </p:nvSpPr>
        <p:spPr>
          <a:xfrm>
            <a:off x="7669761" y="1176971"/>
            <a:ext cx="2355999" cy="316055"/>
          </a:xfrm>
          <a:prstGeom prst="rect">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a:extLst>
              <a:ext uri="{FF2B5EF4-FFF2-40B4-BE49-F238E27FC236}">
                <a16:creationId xmlns:a16="http://schemas.microsoft.com/office/drawing/2014/main" id="{B230FCC7-8AD9-57FF-B655-CF63F5767544}"/>
              </a:ext>
            </a:extLst>
          </p:cNvPr>
          <p:cNvSpPr txBox="1"/>
          <p:nvPr/>
        </p:nvSpPr>
        <p:spPr>
          <a:xfrm>
            <a:off x="7767272" y="1152080"/>
            <a:ext cx="2171541" cy="369332"/>
          </a:xfrm>
          <a:prstGeom prst="rect">
            <a:avLst/>
          </a:prstGeom>
          <a:noFill/>
        </p:spPr>
        <p:txBody>
          <a:bodyPr wrap="square">
            <a:spAutoFit/>
          </a:bodyPr>
          <a:lstStyle/>
          <a:p>
            <a:pPr marL="0" indent="0">
              <a:buNone/>
            </a:pPr>
            <a:r>
              <a:rPr lang="en-US" sz="1800" b="1">
                <a:solidFill>
                  <a:srgbClr val="071A33"/>
                </a:solidFill>
                <a:latin typeface="Aptos Display" pitchFamily="34" charset="0"/>
                <a:ea typeface="Aptos Display" pitchFamily="34" charset="-122"/>
                <a:cs typeface="Aptos Display" pitchFamily="34" charset="-120"/>
              </a:rPr>
              <a:t>Relationship logic</a:t>
            </a:r>
            <a:endParaRPr lang="en-US" sz="1800"/>
          </a:p>
        </p:txBody>
      </p:sp>
      <p:pic>
        <p:nvPicPr>
          <p:cNvPr id="70" name="Picture 69">
            <a:extLst>
              <a:ext uri="{FF2B5EF4-FFF2-40B4-BE49-F238E27FC236}">
                <a16:creationId xmlns:a16="http://schemas.microsoft.com/office/drawing/2014/main" id="{C5E5C49E-ABB8-3892-DFF2-444EADE61E9D}"/>
              </a:ext>
            </a:extLst>
          </p:cNvPr>
          <p:cNvPicPr>
            <a:picLocks noChangeAspect="1"/>
          </p:cNvPicPr>
          <p:nvPr/>
        </p:nvPicPr>
        <p:blipFill>
          <a:blip r:embed="rId2"/>
          <a:stretch>
            <a:fillRect/>
          </a:stretch>
        </p:blipFill>
        <p:spPr>
          <a:xfrm>
            <a:off x="5846037" y="1517917"/>
            <a:ext cx="6213054" cy="42022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500" fill="hold"/>
                                        <p:tgtEl>
                                          <p:spTgt spid="54"/>
                                        </p:tgtEl>
                                        <p:attrNameLst>
                                          <p:attrName>ppt_x</p:attrName>
                                        </p:attrNameLst>
                                      </p:cBhvr>
                                      <p:tavLst>
                                        <p:tav tm="0">
                                          <p:val>
                                            <p:strVal val="#ppt_x"/>
                                          </p:val>
                                        </p:tav>
                                        <p:tav tm="100000">
                                          <p:val>
                                            <p:strVal val="#ppt_x"/>
                                          </p:val>
                                        </p:tav>
                                      </p:tavLst>
                                    </p:anim>
                                    <p:anim calcmode="lin" valueType="num">
                                      <p:cBhvr additive="base">
                                        <p:cTn id="1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1"/>
                                        </p:tgtEl>
                                        <p:attrNameLst>
                                          <p:attrName>style.visibility</p:attrName>
                                        </p:attrNameLst>
                                      </p:cBhvr>
                                      <p:to>
                                        <p:strVal val="visible"/>
                                      </p:to>
                                    </p:set>
                                    <p:anim calcmode="lin" valueType="num">
                                      <p:cBhvr additive="base">
                                        <p:cTn id="29" dur="500" fill="hold"/>
                                        <p:tgtEl>
                                          <p:spTgt spid="71"/>
                                        </p:tgtEl>
                                        <p:attrNameLst>
                                          <p:attrName>ppt_x</p:attrName>
                                        </p:attrNameLst>
                                      </p:cBhvr>
                                      <p:tavLst>
                                        <p:tav tm="0">
                                          <p:val>
                                            <p:strVal val="#ppt_x"/>
                                          </p:val>
                                        </p:tav>
                                        <p:tav tm="100000">
                                          <p:val>
                                            <p:strVal val="#ppt_x"/>
                                          </p:val>
                                        </p:tav>
                                      </p:tavLst>
                                    </p:anim>
                                    <p:anim calcmode="lin" valueType="num">
                                      <p:cBhvr additive="base">
                                        <p:cTn id="30"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anim calcmode="lin" valueType="num">
                                      <p:cBhvr additive="base">
                                        <p:cTn id="35" dur="500" fill="hold"/>
                                        <p:tgtEl>
                                          <p:spTgt spid="56"/>
                                        </p:tgtEl>
                                        <p:attrNameLst>
                                          <p:attrName>ppt_x</p:attrName>
                                        </p:attrNameLst>
                                      </p:cBhvr>
                                      <p:tavLst>
                                        <p:tav tm="0">
                                          <p:val>
                                            <p:strVal val="#ppt_x"/>
                                          </p:val>
                                        </p:tav>
                                        <p:tav tm="100000">
                                          <p:val>
                                            <p:strVal val="#ppt_x"/>
                                          </p:val>
                                        </p:tav>
                                      </p:tavLst>
                                    </p:anim>
                                    <p:anim calcmode="lin" valueType="num">
                                      <p:cBhvr additive="base">
                                        <p:cTn id="36"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7"/>
                                        </p:tgtEl>
                                        <p:attrNameLst>
                                          <p:attrName>style.visibility</p:attrName>
                                        </p:attrNameLst>
                                      </p:cBhvr>
                                      <p:to>
                                        <p:strVal val="visible"/>
                                      </p:to>
                                    </p:set>
                                    <p:anim calcmode="lin" valueType="num">
                                      <p:cBhvr additive="base">
                                        <p:cTn id="57" dur="500" fill="hold"/>
                                        <p:tgtEl>
                                          <p:spTgt spid="57"/>
                                        </p:tgtEl>
                                        <p:attrNameLst>
                                          <p:attrName>ppt_x</p:attrName>
                                        </p:attrNameLst>
                                      </p:cBhvr>
                                      <p:tavLst>
                                        <p:tav tm="0">
                                          <p:val>
                                            <p:strVal val="#ppt_x"/>
                                          </p:val>
                                        </p:tav>
                                        <p:tav tm="100000">
                                          <p:val>
                                            <p:strVal val="#ppt_x"/>
                                          </p:val>
                                        </p:tav>
                                      </p:tavLst>
                                    </p:anim>
                                    <p:anim calcmode="lin" valueType="num">
                                      <p:cBhvr additive="base">
                                        <p:cTn id="5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 calcmode="lin" valueType="num">
                                      <p:cBhvr additive="base">
                                        <p:cTn id="69" dur="500" fill="hold"/>
                                        <p:tgtEl>
                                          <p:spTgt spid="33"/>
                                        </p:tgtEl>
                                        <p:attrNameLst>
                                          <p:attrName>ppt_x</p:attrName>
                                        </p:attrNameLst>
                                      </p:cBhvr>
                                      <p:tavLst>
                                        <p:tav tm="0">
                                          <p:val>
                                            <p:strVal val="#ppt_x"/>
                                          </p:val>
                                        </p:tav>
                                        <p:tav tm="100000">
                                          <p:val>
                                            <p:strVal val="#ppt_x"/>
                                          </p:val>
                                        </p:tav>
                                      </p:tavLst>
                                    </p:anim>
                                    <p:anim calcmode="lin" valueType="num">
                                      <p:cBhvr additive="base">
                                        <p:cTn id="70" dur="500" fill="hold"/>
                                        <p:tgtEl>
                                          <p:spTgt spid="33"/>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 calcmode="lin" valueType="num">
                                      <p:cBhvr additive="base">
                                        <p:cTn id="73" dur="500" fill="hold"/>
                                        <p:tgtEl>
                                          <p:spTgt spid="34"/>
                                        </p:tgtEl>
                                        <p:attrNameLst>
                                          <p:attrName>ppt_x</p:attrName>
                                        </p:attrNameLst>
                                      </p:cBhvr>
                                      <p:tavLst>
                                        <p:tav tm="0">
                                          <p:val>
                                            <p:strVal val="#ppt_x"/>
                                          </p:val>
                                        </p:tav>
                                        <p:tav tm="100000">
                                          <p:val>
                                            <p:strVal val="#ppt_x"/>
                                          </p:val>
                                        </p:tav>
                                      </p:tavLst>
                                    </p:anim>
                                    <p:anim calcmode="lin" valueType="num">
                                      <p:cBhvr additive="base">
                                        <p:cTn id="7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9"/>
                                        </p:tgtEl>
                                        <p:attrNameLst>
                                          <p:attrName>style.visibility</p:attrName>
                                        </p:attrNameLst>
                                      </p:cBhvr>
                                      <p:to>
                                        <p:strVal val="visible"/>
                                      </p:to>
                                    </p:set>
                                    <p:anim calcmode="lin" valueType="num">
                                      <p:cBhvr additive="base">
                                        <p:cTn id="79" dur="500" fill="hold"/>
                                        <p:tgtEl>
                                          <p:spTgt spid="59"/>
                                        </p:tgtEl>
                                        <p:attrNameLst>
                                          <p:attrName>ppt_x</p:attrName>
                                        </p:attrNameLst>
                                      </p:cBhvr>
                                      <p:tavLst>
                                        <p:tav tm="0">
                                          <p:val>
                                            <p:strVal val="#ppt_x"/>
                                          </p:val>
                                        </p:tav>
                                        <p:tav tm="100000">
                                          <p:val>
                                            <p:strVal val="#ppt_x"/>
                                          </p:val>
                                        </p:tav>
                                      </p:tavLst>
                                    </p:anim>
                                    <p:anim calcmode="lin" valueType="num">
                                      <p:cBhvr additive="base">
                                        <p:cTn id="80"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 calcmode="lin" valueType="num">
                                      <p:cBhvr additive="base">
                                        <p:cTn id="85" dur="500" fill="hold"/>
                                        <p:tgtEl>
                                          <p:spTgt spid="32"/>
                                        </p:tgtEl>
                                        <p:attrNameLst>
                                          <p:attrName>ppt_x</p:attrName>
                                        </p:attrNameLst>
                                      </p:cBhvr>
                                      <p:tavLst>
                                        <p:tav tm="0">
                                          <p:val>
                                            <p:strVal val="#ppt_x"/>
                                          </p:val>
                                        </p:tav>
                                        <p:tav tm="100000">
                                          <p:val>
                                            <p:strVal val="#ppt_x"/>
                                          </p:val>
                                        </p:tav>
                                      </p:tavLst>
                                    </p:anim>
                                    <p:anim calcmode="lin" valueType="num">
                                      <p:cBhvr additive="base">
                                        <p:cTn id="8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2"/>
                                        </p:tgtEl>
                                        <p:attrNameLst>
                                          <p:attrName>style.visibility</p:attrName>
                                        </p:attrNameLst>
                                      </p:cBhvr>
                                      <p:to>
                                        <p:strVal val="visible"/>
                                      </p:to>
                                    </p:set>
                                    <p:anim calcmode="lin" valueType="num">
                                      <p:cBhvr additive="base">
                                        <p:cTn id="91" dur="500" fill="hold"/>
                                        <p:tgtEl>
                                          <p:spTgt spid="62"/>
                                        </p:tgtEl>
                                        <p:attrNameLst>
                                          <p:attrName>ppt_x</p:attrName>
                                        </p:attrNameLst>
                                      </p:cBhvr>
                                      <p:tavLst>
                                        <p:tav tm="0">
                                          <p:val>
                                            <p:strVal val="#ppt_x"/>
                                          </p:val>
                                        </p:tav>
                                        <p:tav tm="100000">
                                          <p:val>
                                            <p:strVal val="#ppt_x"/>
                                          </p:val>
                                        </p:tav>
                                      </p:tavLst>
                                    </p:anim>
                                    <p:anim calcmode="lin" valueType="num">
                                      <p:cBhvr additive="base">
                                        <p:cTn id="92" dur="500" fill="hold"/>
                                        <p:tgtEl>
                                          <p:spTgt spid="62"/>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anim calcmode="lin" valueType="num">
                                      <p:cBhvr additive="base">
                                        <p:cTn id="95" dur="500" fill="hold"/>
                                        <p:tgtEl>
                                          <p:spTgt spid="60"/>
                                        </p:tgtEl>
                                        <p:attrNameLst>
                                          <p:attrName>ppt_x</p:attrName>
                                        </p:attrNameLst>
                                      </p:cBhvr>
                                      <p:tavLst>
                                        <p:tav tm="0">
                                          <p:val>
                                            <p:strVal val="#ppt_x"/>
                                          </p:val>
                                        </p:tav>
                                        <p:tav tm="100000">
                                          <p:val>
                                            <p:strVal val="#ppt_x"/>
                                          </p:val>
                                        </p:tav>
                                      </p:tavLst>
                                    </p:anim>
                                    <p:anim calcmode="lin" valueType="num">
                                      <p:cBhvr additive="base">
                                        <p:cTn id="96"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70"/>
                                        </p:tgtEl>
                                        <p:attrNameLst>
                                          <p:attrName>style.visibility</p:attrName>
                                        </p:attrNameLst>
                                      </p:cBhvr>
                                      <p:to>
                                        <p:strVal val="visible"/>
                                      </p:to>
                                    </p:set>
                                    <p:anim calcmode="lin" valueType="num">
                                      <p:cBhvr additive="base">
                                        <p:cTn id="101" dur="500" fill="hold"/>
                                        <p:tgtEl>
                                          <p:spTgt spid="70"/>
                                        </p:tgtEl>
                                        <p:attrNameLst>
                                          <p:attrName>ppt_x</p:attrName>
                                        </p:attrNameLst>
                                      </p:cBhvr>
                                      <p:tavLst>
                                        <p:tav tm="0">
                                          <p:val>
                                            <p:strVal val="#ppt_x"/>
                                          </p:val>
                                        </p:tav>
                                        <p:tav tm="100000">
                                          <p:val>
                                            <p:strVal val="#ppt_x"/>
                                          </p:val>
                                        </p:tav>
                                      </p:tavLst>
                                    </p:anim>
                                    <p:anim calcmode="lin" valueType="num">
                                      <p:cBhvr additive="base">
                                        <p:cTn id="10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4" grpId="0" animBg="1"/>
      <p:bldP spid="23" grpId="0" animBg="1"/>
      <p:bldP spid="24" grpId="0" animBg="1"/>
      <p:bldP spid="25" grpId="0"/>
      <p:bldP spid="32" grpId="0" animBg="1"/>
      <p:bldP spid="33" grpId="0" animBg="1"/>
      <p:bldP spid="34" grpId="0"/>
      <p:bldP spid="50" grpId="0"/>
      <p:bldP spid="54" grpId="0"/>
      <p:bldP spid="56" grpId="0"/>
      <p:bldP spid="57" grpId="0"/>
      <p:bldP spid="59" grpId="0"/>
      <p:bldP spid="60" grpId="0" animBg="1"/>
      <p:bldP spid="6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A0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228600"/>
            <a:ext cx="64008"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
            <a:ext cx="9144000" cy="594360"/>
          </a:xfrm>
          <a:prstGeom prst="rect">
            <a:avLst/>
          </a:prstGeom>
          <a:noFill/>
        </p:spPr>
        <p:txBody>
          <a:bodyPr wrap="square">
            <a:spAutoFit/>
          </a:bodyPr>
          <a:lstStyle/>
          <a:p>
            <a:pPr algn="l"/>
            <a:r>
              <a:rPr sz="2800" b="1" i="0">
                <a:solidFill>
                  <a:srgbClr val="FFFFFF"/>
                </a:solidFill>
              </a:rPr>
              <a:t>Live Demo Walkthrough</a:t>
            </a:r>
          </a:p>
        </p:txBody>
      </p:sp>
      <p:sp>
        <p:nvSpPr>
          <p:cNvPr id="5" name="Rectangle 4"/>
          <p:cNvSpPr/>
          <p:nvPr/>
        </p:nvSpPr>
        <p:spPr>
          <a:xfrm>
            <a:off x="457200" y="1097280"/>
            <a:ext cx="5486400" cy="5248436"/>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097280"/>
            <a:ext cx="5486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94360" y="1234439"/>
            <a:ext cx="502920" cy="50292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16152"/>
            <a:ext cx="502920" cy="502920"/>
          </a:xfrm>
          <a:prstGeom prst="rect">
            <a:avLst/>
          </a:prstGeom>
          <a:noFill/>
        </p:spPr>
        <p:txBody>
          <a:bodyPr wrap="square">
            <a:spAutoFit/>
          </a:bodyPr>
          <a:lstStyle/>
          <a:p>
            <a:pPr algn="ctr"/>
            <a:r>
              <a:rPr sz="1500" b="1" i="0">
                <a:solidFill>
                  <a:srgbClr val="FFFFFF"/>
                </a:solidFill>
              </a:rPr>
              <a:t>1</a:t>
            </a:r>
          </a:p>
        </p:txBody>
      </p:sp>
      <p:sp>
        <p:nvSpPr>
          <p:cNvPr id="9" name="TextBox 8"/>
          <p:cNvSpPr txBox="1"/>
          <p:nvPr/>
        </p:nvSpPr>
        <p:spPr>
          <a:xfrm>
            <a:off x="1234440" y="1261872"/>
            <a:ext cx="4572000" cy="411480"/>
          </a:xfrm>
          <a:prstGeom prst="rect">
            <a:avLst/>
          </a:prstGeom>
          <a:noFill/>
        </p:spPr>
        <p:txBody>
          <a:bodyPr wrap="square">
            <a:spAutoFit/>
          </a:bodyPr>
          <a:lstStyle/>
          <a:p>
            <a:pPr algn="l"/>
            <a:r>
              <a:rPr sz="1400" b="1" i="0">
                <a:solidFill>
                  <a:srgbClr val="FF6B35"/>
                </a:solidFill>
              </a:rPr>
              <a:t>Student Registration</a:t>
            </a:r>
          </a:p>
        </p:txBody>
      </p:sp>
      <p:sp>
        <p:nvSpPr>
          <p:cNvPr id="10" name="TextBox 9"/>
          <p:cNvSpPr txBox="1"/>
          <p:nvPr/>
        </p:nvSpPr>
        <p:spPr>
          <a:xfrm>
            <a:off x="1234440" y="1494987"/>
            <a:ext cx="4572000" cy="461665"/>
          </a:xfrm>
          <a:prstGeom prst="rect">
            <a:avLst/>
          </a:prstGeom>
          <a:noFill/>
        </p:spPr>
        <p:txBody>
          <a:bodyPr wrap="square">
            <a:spAutoFit/>
          </a:bodyPr>
          <a:lstStyle/>
          <a:p>
            <a:r>
              <a:rPr lang="en-US" sz="1200">
                <a:solidFill>
                  <a:schemeClr val="bg1">
                    <a:lumMod val="75000"/>
                  </a:schemeClr>
                </a:solidFill>
              </a:rPr>
              <a:t>No sign-up required — integrated with Cal State LA student portal</a:t>
            </a:r>
            <a:br>
              <a:rPr lang="en-US" sz="1200">
                <a:solidFill>
                  <a:schemeClr val="bg1">
                    <a:lumMod val="75000"/>
                  </a:schemeClr>
                </a:solidFill>
              </a:rPr>
            </a:br>
            <a:r>
              <a:rPr lang="en-US" sz="1200">
                <a:solidFill>
                  <a:schemeClr val="bg1">
                    <a:lumMod val="75000"/>
                  </a:schemeClr>
                </a:solidFill>
              </a:rPr>
              <a:t>Only verified active students can access the system</a:t>
            </a:r>
          </a:p>
        </p:txBody>
      </p:sp>
      <p:sp>
        <p:nvSpPr>
          <p:cNvPr id="12" name="Rectangle 11"/>
          <p:cNvSpPr/>
          <p:nvPr/>
        </p:nvSpPr>
        <p:spPr>
          <a:xfrm>
            <a:off x="480544" y="2245211"/>
            <a:ext cx="5486400" cy="54864"/>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85216" y="2518876"/>
            <a:ext cx="502920" cy="50292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574420"/>
            <a:ext cx="502920" cy="502920"/>
          </a:xfrm>
          <a:prstGeom prst="rect">
            <a:avLst/>
          </a:prstGeom>
          <a:noFill/>
        </p:spPr>
        <p:txBody>
          <a:bodyPr wrap="square">
            <a:spAutoFit/>
          </a:bodyPr>
          <a:lstStyle/>
          <a:p>
            <a:pPr algn="ctr"/>
            <a:r>
              <a:rPr sz="1500" b="1" i="0">
                <a:solidFill>
                  <a:srgbClr val="FFFFFF"/>
                </a:solidFill>
              </a:rPr>
              <a:t>2</a:t>
            </a:r>
          </a:p>
        </p:txBody>
      </p:sp>
      <p:sp>
        <p:nvSpPr>
          <p:cNvPr id="15" name="TextBox 14"/>
          <p:cNvSpPr txBox="1"/>
          <p:nvPr/>
        </p:nvSpPr>
        <p:spPr>
          <a:xfrm>
            <a:off x="1088136" y="2382894"/>
            <a:ext cx="4572000" cy="411480"/>
          </a:xfrm>
          <a:prstGeom prst="rect">
            <a:avLst/>
          </a:prstGeom>
          <a:noFill/>
        </p:spPr>
        <p:txBody>
          <a:bodyPr wrap="square">
            <a:spAutoFit/>
          </a:bodyPr>
          <a:lstStyle/>
          <a:p>
            <a:pPr algn="l"/>
            <a:r>
              <a:rPr sz="1400" b="1" i="0">
                <a:solidFill>
                  <a:srgbClr val="06D6A0"/>
                </a:solidFill>
              </a:rPr>
              <a:t>Discover &amp; Match</a:t>
            </a:r>
          </a:p>
        </p:txBody>
      </p:sp>
      <p:sp>
        <p:nvSpPr>
          <p:cNvPr id="16" name="TextBox 15"/>
          <p:cNvSpPr txBox="1"/>
          <p:nvPr/>
        </p:nvSpPr>
        <p:spPr>
          <a:xfrm>
            <a:off x="1106424" y="2597938"/>
            <a:ext cx="4572000" cy="646331"/>
          </a:xfrm>
          <a:prstGeom prst="rect">
            <a:avLst/>
          </a:prstGeom>
          <a:noFill/>
        </p:spPr>
        <p:txBody>
          <a:bodyPr wrap="square">
            <a:spAutoFit/>
          </a:bodyPr>
          <a:lstStyle/>
          <a:p>
            <a:r>
              <a:rPr lang="en-US" sz="1200">
                <a:solidFill>
                  <a:schemeClr val="bg1">
                    <a:lumMod val="75000"/>
                  </a:schemeClr>
                </a:solidFill>
              </a:rPr>
              <a:t>Browse active workout groups</a:t>
            </a:r>
            <a:br>
              <a:rPr lang="en-US" sz="1200">
                <a:solidFill>
                  <a:schemeClr val="bg1">
                    <a:lumMod val="75000"/>
                  </a:schemeClr>
                </a:solidFill>
              </a:rPr>
            </a:br>
            <a:r>
              <a:rPr lang="en-US" sz="1200">
                <a:solidFill>
                  <a:schemeClr val="bg1">
                    <a:lumMod val="75000"/>
                  </a:schemeClr>
                </a:solidFill>
              </a:rPr>
              <a:t>Filter by workout focus and skill level</a:t>
            </a:r>
            <a:br>
              <a:rPr lang="en-US" sz="1200">
                <a:solidFill>
                  <a:schemeClr val="bg1">
                    <a:lumMod val="75000"/>
                  </a:schemeClr>
                </a:solidFill>
              </a:rPr>
            </a:br>
            <a:r>
              <a:rPr lang="en-US" sz="1200">
                <a:solidFill>
                  <a:schemeClr val="bg1">
                    <a:lumMod val="75000"/>
                  </a:schemeClr>
                </a:solidFill>
              </a:rPr>
              <a:t>View available spots and group details</a:t>
            </a:r>
          </a:p>
        </p:txBody>
      </p:sp>
      <p:sp>
        <p:nvSpPr>
          <p:cNvPr id="17" name="Rectangle 16"/>
          <p:cNvSpPr/>
          <p:nvPr/>
        </p:nvSpPr>
        <p:spPr>
          <a:xfrm>
            <a:off x="457200" y="3474720"/>
            <a:ext cx="5486400" cy="1228462"/>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474720"/>
            <a:ext cx="5486400" cy="54864"/>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94360" y="3611879"/>
            <a:ext cx="502920" cy="502920"/>
          </a:xfrm>
          <a:prstGeom prst="ellipse">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593591"/>
            <a:ext cx="502920" cy="502920"/>
          </a:xfrm>
          <a:prstGeom prst="rect">
            <a:avLst/>
          </a:prstGeom>
          <a:noFill/>
        </p:spPr>
        <p:txBody>
          <a:bodyPr wrap="square">
            <a:spAutoFit/>
          </a:bodyPr>
          <a:lstStyle/>
          <a:p>
            <a:pPr algn="ctr"/>
            <a:r>
              <a:rPr sz="1500" b="1" i="0">
                <a:solidFill>
                  <a:srgbClr val="1A1A2E"/>
                </a:solidFill>
              </a:rPr>
              <a:t>3</a:t>
            </a:r>
          </a:p>
        </p:txBody>
      </p:sp>
      <p:sp>
        <p:nvSpPr>
          <p:cNvPr id="21" name="TextBox 20"/>
          <p:cNvSpPr txBox="1"/>
          <p:nvPr/>
        </p:nvSpPr>
        <p:spPr>
          <a:xfrm>
            <a:off x="1234440" y="3639312"/>
            <a:ext cx="4572000" cy="411480"/>
          </a:xfrm>
          <a:prstGeom prst="rect">
            <a:avLst/>
          </a:prstGeom>
          <a:noFill/>
        </p:spPr>
        <p:txBody>
          <a:bodyPr wrap="square">
            <a:spAutoFit/>
          </a:bodyPr>
          <a:lstStyle/>
          <a:p>
            <a:pPr algn="l"/>
            <a:r>
              <a:rPr sz="1400" b="1" i="0">
                <a:solidFill>
                  <a:srgbClr val="FFD166"/>
                </a:solidFill>
              </a:rPr>
              <a:t>Create a Group</a:t>
            </a:r>
          </a:p>
        </p:txBody>
      </p:sp>
      <p:sp>
        <p:nvSpPr>
          <p:cNvPr id="22" name="TextBox 21"/>
          <p:cNvSpPr txBox="1"/>
          <p:nvPr/>
        </p:nvSpPr>
        <p:spPr>
          <a:xfrm>
            <a:off x="1234440" y="4114800"/>
            <a:ext cx="4572000" cy="646331"/>
          </a:xfrm>
          <a:prstGeom prst="rect">
            <a:avLst/>
          </a:prstGeom>
          <a:noFill/>
        </p:spPr>
        <p:txBody>
          <a:bodyPr wrap="square">
            <a:spAutoFit/>
          </a:bodyPr>
          <a:lstStyle/>
          <a:p>
            <a:r>
              <a:rPr lang="en-US" sz="1200">
                <a:solidFill>
                  <a:schemeClr val="bg1">
                    <a:lumMod val="75000"/>
                  </a:schemeClr>
                </a:solidFill>
              </a:rPr>
              <a:t>Enter group name and workout focus (e.g., cardio, strength)</a:t>
            </a:r>
            <a:br>
              <a:rPr lang="en-US" sz="1200">
                <a:solidFill>
                  <a:schemeClr val="bg1">
                    <a:lumMod val="75000"/>
                  </a:schemeClr>
                </a:solidFill>
              </a:rPr>
            </a:br>
            <a:r>
              <a:rPr lang="en-US" sz="1200">
                <a:solidFill>
                  <a:schemeClr val="bg1">
                    <a:lumMod val="75000"/>
                  </a:schemeClr>
                </a:solidFill>
              </a:rPr>
              <a:t>Select skill level and group size</a:t>
            </a:r>
            <a:br>
              <a:rPr lang="en-US" sz="1200">
                <a:solidFill>
                  <a:schemeClr val="bg1">
                    <a:lumMod val="75000"/>
                  </a:schemeClr>
                </a:solidFill>
              </a:rPr>
            </a:br>
            <a:endParaRPr sz="1200" b="0" i="0">
              <a:solidFill>
                <a:schemeClr val="bg1">
                  <a:lumMod val="75000"/>
                </a:schemeClr>
              </a:solidFill>
            </a:endParaRPr>
          </a:p>
        </p:txBody>
      </p:sp>
      <p:sp>
        <p:nvSpPr>
          <p:cNvPr id="23" name="Rectangle 22"/>
          <p:cNvSpPr/>
          <p:nvPr/>
        </p:nvSpPr>
        <p:spPr>
          <a:xfrm>
            <a:off x="490272" y="4937924"/>
            <a:ext cx="5486400" cy="1283326"/>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93192" y="4956908"/>
            <a:ext cx="5486400" cy="54864"/>
          </a:xfrm>
          <a:prstGeom prst="rect">
            <a:avLst/>
          </a:prstGeom>
          <a:solidFill>
            <a:srgbClr val="A0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58258" y="5202452"/>
            <a:ext cx="502920" cy="502920"/>
          </a:xfrm>
          <a:prstGeom prst="ellipse">
            <a:avLst/>
          </a:prstGeom>
          <a:solidFill>
            <a:srgbClr val="A0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855" y="5238994"/>
            <a:ext cx="502920" cy="502920"/>
          </a:xfrm>
          <a:prstGeom prst="rect">
            <a:avLst/>
          </a:prstGeom>
          <a:noFill/>
        </p:spPr>
        <p:txBody>
          <a:bodyPr wrap="square">
            <a:spAutoFit/>
          </a:bodyPr>
          <a:lstStyle/>
          <a:p>
            <a:pPr algn="ctr"/>
            <a:r>
              <a:rPr sz="1500" b="1" i="0">
                <a:solidFill>
                  <a:srgbClr val="FFFFFF"/>
                </a:solidFill>
              </a:rPr>
              <a:t>4</a:t>
            </a:r>
          </a:p>
        </p:txBody>
      </p:sp>
      <p:sp>
        <p:nvSpPr>
          <p:cNvPr id="27" name="TextBox 26"/>
          <p:cNvSpPr txBox="1"/>
          <p:nvPr/>
        </p:nvSpPr>
        <p:spPr>
          <a:xfrm>
            <a:off x="1252618" y="5174984"/>
            <a:ext cx="4572000" cy="307777"/>
          </a:xfrm>
          <a:prstGeom prst="rect">
            <a:avLst/>
          </a:prstGeom>
          <a:noFill/>
        </p:spPr>
        <p:txBody>
          <a:bodyPr wrap="square">
            <a:spAutoFit/>
          </a:bodyPr>
          <a:lstStyle/>
          <a:p>
            <a:pPr algn="l"/>
            <a:r>
              <a:rPr lang="en-US" sz="1400" b="1" i="0">
                <a:solidFill>
                  <a:srgbClr val="A05CFF"/>
                </a:solidFill>
              </a:rPr>
              <a:t>Once Join a Group</a:t>
            </a:r>
            <a:endParaRPr sz="1400" b="1" i="0">
              <a:solidFill>
                <a:srgbClr val="A05CFF"/>
              </a:solidFill>
            </a:endParaRPr>
          </a:p>
        </p:txBody>
      </p:sp>
      <p:sp>
        <p:nvSpPr>
          <p:cNvPr id="28" name="TextBox 27"/>
          <p:cNvSpPr txBox="1"/>
          <p:nvPr/>
        </p:nvSpPr>
        <p:spPr>
          <a:xfrm>
            <a:off x="1197809" y="5464179"/>
            <a:ext cx="4572000" cy="646331"/>
          </a:xfrm>
          <a:prstGeom prst="rect">
            <a:avLst/>
          </a:prstGeom>
          <a:noFill/>
        </p:spPr>
        <p:txBody>
          <a:bodyPr wrap="square">
            <a:spAutoFit/>
          </a:bodyPr>
          <a:lstStyle/>
          <a:p>
            <a:r>
              <a:rPr lang="en-US" sz="1200">
                <a:solidFill>
                  <a:schemeClr val="bg1">
                    <a:lumMod val="75000"/>
                  </a:schemeClr>
                </a:solidFill>
              </a:rPr>
              <a:t>Join available workout groups</a:t>
            </a:r>
            <a:br>
              <a:rPr lang="en-US" sz="1200">
                <a:solidFill>
                  <a:schemeClr val="bg1">
                    <a:lumMod val="75000"/>
                  </a:schemeClr>
                </a:solidFill>
              </a:rPr>
            </a:br>
            <a:r>
              <a:rPr lang="en-US" sz="1200">
                <a:solidFill>
                  <a:schemeClr val="bg1">
                    <a:lumMod val="75000"/>
                  </a:schemeClr>
                </a:solidFill>
              </a:rPr>
              <a:t>View group members and details</a:t>
            </a:r>
            <a:br>
              <a:rPr lang="en-US" sz="1200">
                <a:solidFill>
                  <a:schemeClr val="bg1">
                    <a:lumMod val="75000"/>
                  </a:schemeClr>
                </a:solidFill>
              </a:rPr>
            </a:br>
            <a:r>
              <a:rPr lang="en-US" sz="1200">
                <a:solidFill>
                  <a:schemeClr val="bg1">
                    <a:lumMod val="75000"/>
                  </a:schemeClr>
                </a:solidFill>
              </a:rPr>
              <a:t>Schedule sessions with date, time, and location</a:t>
            </a:r>
            <a:endParaRPr sz="1200" b="0" i="0">
              <a:solidFill>
                <a:schemeClr val="bg1">
                  <a:lumMod val="75000"/>
                </a:schemeClr>
              </a:solidFill>
            </a:endParaRPr>
          </a:p>
        </p:txBody>
      </p:sp>
      <p:pic>
        <p:nvPicPr>
          <p:cNvPr id="29" name="Picture 28">
            <a:hlinkClick r:id="rId2"/>
            <a:extLst>
              <a:ext uri="{FF2B5EF4-FFF2-40B4-BE49-F238E27FC236}">
                <a16:creationId xmlns:a16="http://schemas.microsoft.com/office/drawing/2014/main" id="{B89C1EEF-3006-6E6B-CC36-E2391D66E4E1}"/>
              </a:ext>
            </a:extLst>
          </p:cNvPr>
          <p:cNvPicPr>
            <a:picLocks noChangeAspect="1"/>
          </p:cNvPicPr>
          <p:nvPr/>
        </p:nvPicPr>
        <p:blipFill>
          <a:blip r:embed="rId3"/>
          <a:stretch>
            <a:fillRect/>
          </a:stretch>
        </p:blipFill>
        <p:spPr>
          <a:xfrm>
            <a:off x="6066163" y="1509054"/>
            <a:ext cx="5987397" cy="3996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228600"/>
            <a:ext cx="64008"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
            <a:ext cx="9144000" cy="594360"/>
          </a:xfrm>
          <a:prstGeom prst="rect">
            <a:avLst/>
          </a:prstGeom>
          <a:noFill/>
        </p:spPr>
        <p:txBody>
          <a:bodyPr wrap="square">
            <a:spAutoFit/>
          </a:bodyPr>
          <a:lstStyle/>
          <a:p>
            <a:pPr algn="l"/>
            <a:r>
              <a:rPr sz="2800" b="1" i="0">
                <a:solidFill>
                  <a:srgbClr val="FFFFFF"/>
                </a:solidFill>
              </a:rPr>
              <a:t>System Overview — Use-Case Diagram</a:t>
            </a:r>
          </a:p>
        </p:txBody>
      </p:sp>
      <p:sp>
        <p:nvSpPr>
          <p:cNvPr id="5" name="Rectangle 4"/>
          <p:cNvSpPr/>
          <p:nvPr/>
        </p:nvSpPr>
        <p:spPr>
          <a:xfrm>
            <a:off x="2404871" y="1051560"/>
            <a:ext cx="7287769" cy="5328920"/>
          </a:xfrm>
          <a:prstGeom prst="rect">
            <a:avLst/>
          </a:prstGeom>
          <a:noFill/>
          <a:ln w="25400">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15730" y="605877"/>
            <a:ext cx="4058921" cy="338554"/>
          </a:xfrm>
          <a:prstGeom prst="rect">
            <a:avLst/>
          </a:prstGeom>
          <a:noFill/>
        </p:spPr>
        <p:txBody>
          <a:bodyPr wrap="square">
            <a:spAutoFit/>
          </a:bodyPr>
          <a:lstStyle/>
          <a:p>
            <a:pPr algn="ctr"/>
            <a:r>
              <a:rPr lang="en-US" sz="1600" b="1" i="0">
                <a:solidFill>
                  <a:srgbClr val="06D6A0"/>
                </a:solidFill>
              </a:rPr>
              <a:t>«Campus Gym Buddy System»</a:t>
            </a:r>
          </a:p>
        </p:txBody>
      </p:sp>
      <p:sp>
        <p:nvSpPr>
          <p:cNvPr id="7" name="Oval 6"/>
          <p:cNvSpPr/>
          <p:nvPr/>
        </p:nvSpPr>
        <p:spPr>
          <a:xfrm>
            <a:off x="2494448" y="1132848"/>
            <a:ext cx="2112264" cy="558792"/>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68353" y="1285258"/>
            <a:ext cx="1562947" cy="261610"/>
          </a:xfrm>
          <a:prstGeom prst="rect">
            <a:avLst/>
          </a:prstGeom>
          <a:noFill/>
        </p:spPr>
        <p:txBody>
          <a:bodyPr wrap="square">
            <a:spAutoFit/>
          </a:bodyPr>
          <a:lstStyle/>
          <a:p>
            <a:pPr algn="ctr"/>
            <a:r>
              <a:rPr lang="en-US" sz="1100" b="0" i="0">
                <a:solidFill>
                  <a:srgbClr val="FFFFFF"/>
                </a:solidFill>
              </a:rPr>
              <a:t>Manage Student Profile</a:t>
            </a:r>
            <a:endParaRPr sz="1100" b="0" i="0">
              <a:solidFill>
                <a:srgbClr val="FFFFFF"/>
              </a:solidFill>
            </a:endParaRPr>
          </a:p>
        </p:txBody>
      </p:sp>
      <p:sp>
        <p:nvSpPr>
          <p:cNvPr id="9" name="Oval 8"/>
          <p:cNvSpPr/>
          <p:nvPr/>
        </p:nvSpPr>
        <p:spPr>
          <a:xfrm>
            <a:off x="2493094" y="1772928"/>
            <a:ext cx="2096262" cy="558792"/>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89868" y="1921519"/>
            <a:ext cx="1768686" cy="261610"/>
          </a:xfrm>
          <a:prstGeom prst="rect">
            <a:avLst/>
          </a:prstGeom>
          <a:noFill/>
        </p:spPr>
        <p:txBody>
          <a:bodyPr wrap="square">
            <a:spAutoFit/>
          </a:bodyPr>
          <a:lstStyle/>
          <a:p>
            <a:pPr algn="ctr"/>
            <a:r>
              <a:rPr sz="1100" b="0" i="0">
                <a:solidFill>
                  <a:srgbClr val="FFFFFF"/>
                </a:solidFill>
              </a:rPr>
              <a:t>Create</a:t>
            </a:r>
            <a:r>
              <a:rPr lang="en-US" sz="1100">
                <a:solidFill>
                  <a:srgbClr val="FFFFFF"/>
                </a:solidFill>
              </a:rPr>
              <a:t> Workout Group</a:t>
            </a:r>
            <a:endParaRPr sz="1100" b="0" i="0">
              <a:solidFill>
                <a:srgbClr val="FFFFFF"/>
              </a:solidFill>
            </a:endParaRPr>
          </a:p>
        </p:txBody>
      </p:sp>
      <p:sp>
        <p:nvSpPr>
          <p:cNvPr id="11" name="Oval 10"/>
          <p:cNvSpPr/>
          <p:nvPr/>
        </p:nvSpPr>
        <p:spPr>
          <a:xfrm>
            <a:off x="6858000" y="1691640"/>
            <a:ext cx="2103120" cy="685800"/>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03720" y="1737360"/>
            <a:ext cx="2011680" cy="594360"/>
          </a:xfrm>
          <a:prstGeom prst="rect">
            <a:avLst/>
          </a:prstGeom>
          <a:noFill/>
        </p:spPr>
        <p:txBody>
          <a:bodyPr wrap="square">
            <a:spAutoFit/>
          </a:bodyPr>
          <a:lstStyle/>
          <a:p>
            <a:pPr algn="ctr"/>
            <a:r>
              <a:rPr sz="1100" b="0" i="0">
                <a:solidFill>
                  <a:srgbClr val="FFFFFF"/>
                </a:solidFill>
              </a:rPr>
              <a:t>Create Workout
Group</a:t>
            </a:r>
          </a:p>
        </p:txBody>
      </p:sp>
      <p:sp>
        <p:nvSpPr>
          <p:cNvPr id="17" name="Oval 16"/>
          <p:cNvSpPr/>
          <p:nvPr/>
        </p:nvSpPr>
        <p:spPr>
          <a:xfrm>
            <a:off x="2477092" y="2389394"/>
            <a:ext cx="2112264" cy="568939"/>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8495" y="2560320"/>
            <a:ext cx="2011680" cy="261610"/>
          </a:xfrm>
          <a:prstGeom prst="rect">
            <a:avLst/>
          </a:prstGeom>
          <a:noFill/>
        </p:spPr>
        <p:txBody>
          <a:bodyPr wrap="square">
            <a:spAutoFit/>
          </a:bodyPr>
          <a:lstStyle/>
          <a:p>
            <a:pPr algn="ctr"/>
            <a:r>
              <a:rPr lang="en-US" sz="1100">
                <a:solidFill>
                  <a:srgbClr val="FFFFFF"/>
                </a:solidFill>
              </a:rPr>
              <a:t>Search workout groups</a:t>
            </a:r>
            <a:endParaRPr sz="1100" b="0" i="0">
              <a:solidFill>
                <a:srgbClr val="FFFFFF"/>
              </a:solidFill>
            </a:endParaRPr>
          </a:p>
        </p:txBody>
      </p:sp>
      <p:sp>
        <p:nvSpPr>
          <p:cNvPr id="19" name="Oval 18"/>
          <p:cNvSpPr/>
          <p:nvPr/>
        </p:nvSpPr>
        <p:spPr>
          <a:xfrm>
            <a:off x="2468880" y="4888145"/>
            <a:ext cx="2103120" cy="685800"/>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370" y="1978407"/>
            <a:ext cx="1279222" cy="276999"/>
          </a:xfrm>
          <a:prstGeom prst="rect">
            <a:avLst/>
          </a:prstGeom>
          <a:noFill/>
        </p:spPr>
        <p:txBody>
          <a:bodyPr wrap="square" lIns="91440" tIns="45720" rIns="91440" bIns="45720" anchor="t">
            <a:spAutoFit/>
          </a:bodyPr>
          <a:lstStyle/>
          <a:p>
            <a:pPr algn="ctr"/>
            <a:r>
              <a:rPr lang="en-US" sz="1200" b="1" i="0">
                <a:solidFill>
                  <a:schemeClr val="bg1"/>
                </a:solidFill>
              </a:rPr>
              <a:t>🎓 Student</a:t>
            </a:r>
            <a:endParaRPr lang="en-US" sz="1200" b="1" i="0">
              <a:solidFill>
                <a:schemeClr val="bg1"/>
              </a:solidFill>
              <a:ea typeface="Calibri"/>
              <a:cs typeface="Calibri"/>
            </a:endParaRPr>
          </a:p>
        </p:txBody>
      </p:sp>
      <p:sp>
        <p:nvSpPr>
          <p:cNvPr id="24" name="TextBox 23"/>
          <p:cNvSpPr txBox="1"/>
          <p:nvPr/>
        </p:nvSpPr>
        <p:spPr>
          <a:xfrm>
            <a:off x="9788060" y="1836880"/>
            <a:ext cx="1717040" cy="430887"/>
          </a:xfrm>
          <a:prstGeom prst="rect">
            <a:avLst/>
          </a:prstGeom>
          <a:noFill/>
        </p:spPr>
        <p:txBody>
          <a:bodyPr wrap="square">
            <a:spAutoFit/>
          </a:bodyPr>
          <a:lstStyle/>
          <a:p>
            <a:pPr algn="ctr"/>
            <a:r>
              <a:rPr sz="1100" b="1" i="0">
                <a:solidFill>
                  <a:srgbClr val="FFD166"/>
                </a:solidFill>
              </a:rPr>
              <a:t>🔧 </a:t>
            </a:r>
            <a:r>
              <a:rPr lang="en-US" sz="1100" b="1" i="0">
                <a:solidFill>
                  <a:srgbClr val="FFD166"/>
                </a:solidFill>
              </a:rPr>
              <a:t>Campus Verification System</a:t>
            </a:r>
          </a:p>
        </p:txBody>
      </p:sp>
      <p:cxnSp>
        <p:nvCxnSpPr>
          <p:cNvPr id="25" name="Connector 24"/>
          <p:cNvCxnSpPr>
            <a:cxnSpLocks/>
            <a:endCxn id="9" idx="2"/>
          </p:cNvCxnSpPr>
          <p:nvPr/>
        </p:nvCxnSpPr>
        <p:spPr>
          <a:xfrm flipV="1">
            <a:off x="893165" y="2052324"/>
            <a:ext cx="1599929" cy="483511"/>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a:cxnSpLocks/>
            <a:endCxn id="17" idx="2"/>
          </p:cNvCxnSpPr>
          <p:nvPr/>
        </p:nvCxnSpPr>
        <p:spPr>
          <a:xfrm flipV="1">
            <a:off x="914400" y="2673864"/>
            <a:ext cx="1562692" cy="23616"/>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a:endCxn id="37" idx="1"/>
          </p:cNvCxnSpPr>
          <p:nvPr/>
        </p:nvCxnSpPr>
        <p:spPr>
          <a:xfrm>
            <a:off x="960120" y="2697480"/>
            <a:ext cx="1527894" cy="1086355"/>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a:cxnSpLocks/>
            <a:stCxn id="63" idx="1"/>
          </p:cNvCxnSpPr>
          <p:nvPr/>
        </p:nvCxnSpPr>
        <p:spPr>
          <a:xfrm flipH="1" flipV="1">
            <a:off x="8961120" y="2029968"/>
            <a:ext cx="1475956" cy="718804"/>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86A3E4FE-A0FB-7BCE-0F9C-C1F40DEFE02E}"/>
              </a:ext>
            </a:extLst>
          </p:cNvPr>
          <p:cNvSpPr/>
          <p:nvPr/>
        </p:nvSpPr>
        <p:spPr>
          <a:xfrm>
            <a:off x="2494448" y="3470150"/>
            <a:ext cx="2103120" cy="644650"/>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0E95BB1E-DF88-5AEA-86FB-2D4D2F378E58}"/>
              </a:ext>
            </a:extLst>
          </p:cNvPr>
          <p:cNvSpPr/>
          <p:nvPr/>
        </p:nvSpPr>
        <p:spPr>
          <a:xfrm>
            <a:off x="2468880" y="4163316"/>
            <a:ext cx="2061295" cy="618742"/>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a:extLst>
              <a:ext uri="{FF2B5EF4-FFF2-40B4-BE49-F238E27FC236}">
                <a16:creationId xmlns:a16="http://schemas.microsoft.com/office/drawing/2014/main" id="{00076C48-0620-CA65-E5FA-08BCACB9BBAF}"/>
              </a:ext>
            </a:extLst>
          </p:cNvPr>
          <p:cNvSpPr/>
          <p:nvPr/>
        </p:nvSpPr>
        <p:spPr>
          <a:xfrm>
            <a:off x="2494448" y="5680033"/>
            <a:ext cx="2077552" cy="594359"/>
          </a:xfrm>
          <a:prstGeom prst="ellipse">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D74A2EAA-80F6-69B4-812F-FC201A215006}"/>
              </a:ext>
            </a:extLst>
          </p:cNvPr>
          <p:cNvSpPr txBox="1"/>
          <p:nvPr/>
        </p:nvSpPr>
        <p:spPr>
          <a:xfrm>
            <a:off x="2488014" y="3653030"/>
            <a:ext cx="2011680" cy="261610"/>
          </a:xfrm>
          <a:prstGeom prst="rect">
            <a:avLst/>
          </a:prstGeom>
          <a:noFill/>
        </p:spPr>
        <p:txBody>
          <a:bodyPr wrap="square">
            <a:spAutoFit/>
          </a:bodyPr>
          <a:lstStyle/>
          <a:p>
            <a:pPr algn="ctr"/>
            <a:r>
              <a:rPr lang="en-US" sz="1100" b="0" i="0">
                <a:solidFill>
                  <a:srgbClr val="FFFFFF"/>
                </a:solidFill>
              </a:rPr>
              <a:t>Join Workout </a:t>
            </a:r>
            <a:r>
              <a:rPr lang="en-US" sz="1100">
                <a:solidFill>
                  <a:srgbClr val="FFFFFF"/>
                </a:solidFill>
              </a:rPr>
              <a:t>Group</a:t>
            </a:r>
            <a:endParaRPr sz="1100" b="0" i="0">
              <a:solidFill>
                <a:srgbClr val="FFFFFF"/>
              </a:solidFill>
            </a:endParaRPr>
          </a:p>
        </p:txBody>
      </p:sp>
      <p:sp>
        <p:nvSpPr>
          <p:cNvPr id="38" name="TextBox 37">
            <a:extLst>
              <a:ext uri="{FF2B5EF4-FFF2-40B4-BE49-F238E27FC236}">
                <a16:creationId xmlns:a16="http://schemas.microsoft.com/office/drawing/2014/main" id="{BC4C5320-81D7-263E-FAB3-785BC8AAA151}"/>
              </a:ext>
            </a:extLst>
          </p:cNvPr>
          <p:cNvSpPr txBox="1"/>
          <p:nvPr/>
        </p:nvSpPr>
        <p:spPr>
          <a:xfrm>
            <a:off x="2477092" y="4341882"/>
            <a:ext cx="2011680" cy="261610"/>
          </a:xfrm>
          <a:prstGeom prst="rect">
            <a:avLst/>
          </a:prstGeom>
          <a:noFill/>
        </p:spPr>
        <p:txBody>
          <a:bodyPr wrap="square">
            <a:spAutoFit/>
          </a:bodyPr>
          <a:lstStyle/>
          <a:p>
            <a:pPr algn="ctr"/>
            <a:r>
              <a:rPr lang="en-US" sz="1100" b="0" i="0">
                <a:solidFill>
                  <a:srgbClr val="FFFFFF"/>
                </a:solidFill>
              </a:rPr>
              <a:t>Manage Group Membership</a:t>
            </a:r>
            <a:endParaRPr sz="1100" b="0" i="0">
              <a:solidFill>
                <a:srgbClr val="FFFFFF"/>
              </a:solidFill>
            </a:endParaRPr>
          </a:p>
        </p:txBody>
      </p:sp>
      <p:sp>
        <p:nvSpPr>
          <p:cNvPr id="39" name="TextBox 38">
            <a:extLst>
              <a:ext uri="{FF2B5EF4-FFF2-40B4-BE49-F238E27FC236}">
                <a16:creationId xmlns:a16="http://schemas.microsoft.com/office/drawing/2014/main" id="{AE72360A-EBE6-75C9-BA49-9F823B664801}"/>
              </a:ext>
            </a:extLst>
          </p:cNvPr>
          <p:cNvSpPr txBox="1"/>
          <p:nvPr/>
        </p:nvSpPr>
        <p:spPr>
          <a:xfrm>
            <a:off x="2639567" y="5122425"/>
            <a:ext cx="1787313" cy="261610"/>
          </a:xfrm>
          <a:prstGeom prst="rect">
            <a:avLst/>
          </a:prstGeom>
          <a:noFill/>
        </p:spPr>
        <p:txBody>
          <a:bodyPr wrap="square">
            <a:spAutoFit/>
          </a:bodyPr>
          <a:lstStyle/>
          <a:p>
            <a:pPr algn="ctr"/>
            <a:r>
              <a:rPr lang="en-US" sz="1100" b="0" i="0">
                <a:solidFill>
                  <a:srgbClr val="FFFFFF"/>
                </a:solidFill>
              </a:rPr>
              <a:t>Sched</a:t>
            </a:r>
            <a:r>
              <a:rPr lang="en-US" sz="1100">
                <a:solidFill>
                  <a:srgbClr val="FFFFFF"/>
                </a:solidFill>
              </a:rPr>
              <a:t>ule Workout Session</a:t>
            </a:r>
            <a:endParaRPr sz="1100" b="0" i="0">
              <a:solidFill>
                <a:srgbClr val="FFFFFF"/>
              </a:solidFill>
            </a:endParaRPr>
          </a:p>
        </p:txBody>
      </p:sp>
      <p:sp>
        <p:nvSpPr>
          <p:cNvPr id="40" name="TextBox 39">
            <a:extLst>
              <a:ext uri="{FF2B5EF4-FFF2-40B4-BE49-F238E27FC236}">
                <a16:creationId xmlns:a16="http://schemas.microsoft.com/office/drawing/2014/main" id="{56674139-B5EA-5CE5-64CF-C7810895F9DB}"/>
              </a:ext>
            </a:extLst>
          </p:cNvPr>
          <p:cNvSpPr txBox="1"/>
          <p:nvPr/>
        </p:nvSpPr>
        <p:spPr>
          <a:xfrm>
            <a:off x="2609850" y="5846407"/>
            <a:ext cx="1821179" cy="261610"/>
          </a:xfrm>
          <a:prstGeom prst="rect">
            <a:avLst/>
          </a:prstGeom>
          <a:noFill/>
        </p:spPr>
        <p:txBody>
          <a:bodyPr wrap="square">
            <a:spAutoFit/>
          </a:bodyPr>
          <a:lstStyle/>
          <a:p>
            <a:pPr algn="ctr"/>
            <a:r>
              <a:rPr lang="en-US" sz="1100" b="0" i="0">
                <a:solidFill>
                  <a:srgbClr val="FFFFFF"/>
                </a:solidFill>
              </a:rPr>
              <a:t>View group/Session Details</a:t>
            </a:r>
            <a:endParaRPr sz="1100" b="0" i="0">
              <a:solidFill>
                <a:srgbClr val="FFFFFF"/>
              </a:solidFill>
            </a:endParaRPr>
          </a:p>
        </p:txBody>
      </p:sp>
      <p:cxnSp>
        <p:nvCxnSpPr>
          <p:cNvPr id="41" name="Connector 26">
            <a:extLst>
              <a:ext uri="{FF2B5EF4-FFF2-40B4-BE49-F238E27FC236}">
                <a16:creationId xmlns:a16="http://schemas.microsoft.com/office/drawing/2014/main" id="{91102D7B-E553-C831-849E-FADC8143CB44}"/>
              </a:ext>
            </a:extLst>
          </p:cNvPr>
          <p:cNvCxnSpPr>
            <a:cxnSpLocks/>
            <a:stCxn id="67" idx="2"/>
            <a:endCxn id="19" idx="2"/>
          </p:cNvCxnSpPr>
          <p:nvPr/>
        </p:nvCxnSpPr>
        <p:spPr>
          <a:xfrm>
            <a:off x="655071" y="3165824"/>
            <a:ext cx="1813809" cy="2065221"/>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42" name="Connector 26">
            <a:extLst>
              <a:ext uri="{FF2B5EF4-FFF2-40B4-BE49-F238E27FC236}">
                <a16:creationId xmlns:a16="http://schemas.microsoft.com/office/drawing/2014/main" id="{44EA9728-1148-1D29-A2A6-C027F483BCFC}"/>
              </a:ext>
            </a:extLst>
          </p:cNvPr>
          <p:cNvCxnSpPr>
            <a:cxnSpLocks/>
            <a:stCxn id="67" idx="2"/>
            <a:endCxn id="35" idx="2"/>
          </p:cNvCxnSpPr>
          <p:nvPr/>
        </p:nvCxnSpPr>
        <p:spPr>
          <a:xfrm>
            <a:off x="655071" y="3165824"/>
            <a:ext cx="1839377" cy="2811389"/>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49" name="Connector 24">
            <a:extLst>
              <a:ext uri="{FF2B5EF4-FFF2-40B4-BE49-F238E27FC236}">
                <a16:creationId xmlns:a16="http://schemas.microsoft.com/office/drawing/2014/main" id="{AE2BA4C6-1C84-7B51-95E5-825B19F8E71D}"/>
              </a:ext>
            </a:extLst>
          </p:cNvPr>
          <p:cNvCxnSpPr>
            <a:cxnSpLocks/>
            <a:endCxn id="7" idx="2"/>
          </p:cNvCxnSpPr>
          <p:nvPr/>
        </p:nvCxnSpPr>
        <p:spPr>
          <a:xfrm flipV="1">
            <a:off x="893165" y="1412244"/>
            <a:ext cx="1601283" cy="1123591"/>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4909D16F-7C04-5A9A-EF20-C7C089801AEC}"/>
              </a:ext>
            </a:extLst>
          </p:cNvPr>
          <p:cNvCxnSpPr>
            <a:stCxn id="7" idx="6"/>
            <a:endCxn id="11" idx="2"/>
          </p:cNvCxnSpPr>
          <p:nvPr/>
        </p:nvCxnSpPr>
        <p:spPr>
          <a:xfrm>
            <a:off x="4606712" y="1412244"/>
            <a:ext cx="2251288" cy="622296"/>
          </a:xfrm>
          <a:prstGeom prst="straightConnector1">
            <a:avLst/>
          </a:prstGeom>
          <a:ln w="19050" cap="flat" cmpd="sng" algn="ctr">
            <a:solidFill>
              <a:schemeClr val="bg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8" name="Straight Arrow Connector 57">
            <a:extLst>
              <a:ext uri="{FF2B5EF4-FFF2-40B4-BE49-F238E27FC236}">
                <a16:creationId xmlns:a16="http://schemas.microsoft.com/office/drawing/2014/main" id="{2B60566A-0C75-1E04-DA4D-506E6955444E}"/>
              </a:ext>
            </a:extLst>
          </p:cNvPr>
          <p:cNvCxnSpPr>
            <a:stCxn id="17" idx="4"/>
            <a:endCxn id="33" idx="0"/>
          </p:cNvCxnSpPr>
          <p:nvPr/>
        </p:nvCxnSpPr>
        <p:spPr>
          <a:xfrm>
            <a:off x="3533224" y="2958333"/>
            <a:ext cx="12784" cy="511817"/>
          </a:xfrm>
          <a:prstGeom prst="straightConnector1">
            <a:avLst/>
          </a:prstGeom>
          <a:ln>
            <a:solidFill>
              <a:schemeClr val="bg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AD7908A4-C979-2A81-AF67-5E752342D780}"/>
              </a:ext>
            </a:extLst>
          </p:cNvPr>
          <p:cNvSpPr txBox="1"/>
          <p:nvPr/>
        </p:nvSpPr>
        <p:spPr>
          <a:xfrm rot="1042493">
            <a:off x="5138069" y="1395061"/>
            <a:ext cx="1291692" cy="338554"/>
          </a:xfrm>
          <a:prstGeom prst="rect">
            <a:avLst/>
          </a:prstGeom>
          <a:noFill/>
        </p:spPr>
        <p:txBody>
          <a:bodyPr wrap="square" lIns="91440" tIns="45720" rIns="91440" bIns="45720" rtlCol="0" anchor="t">
            <a:spAutoFit/>
          </a:bodyPr>
          <a:lstStyle/>
          <a:p>
            <a:r>
              <a:rPr lang="en-US" sz="1600">
                <a:solidFill>
                  <a:schemeClr val="bg1"/>
                </a:solidFill>
              </a:rPr>
              <a:t>&lt;&lt;Include&gt;&gt;</a:t>
            </a:r>
            <a:endParaRPr lang="en-US" sz="1600">
              <a:solidFill>
                <a:schemeClr val="bg1"/>
              </a:solidFill>
              <a:ea typeface="Calibri"/>
              <a:cs typeface="Calibri"/>
            </a:endParaRPr>
          </a:p>
        </p:txBody>
      </p:sp>
      <p:sp>
        <p:nvSpPr>
          <p:cNvPr id="61" name="TextBox 60">
            <a:extLst>
              <a:ext uri="{FF2B5EF4-FFF2-40B4-BE49-F238E27FC236}">
                <a16:creationId xmlns:a16="http://schemas.microsoft.com/office/drawing/2014/main" id="{C10B4E5B-6371-33F7-A123-8227B0C67249}"/>
              </a:ext>
            </a:extLst>
          </p:cNvPr>
          <p:cNvSpPr txBox="1"/>
          <p:nvPr/>
        </p:nvSpPr>
        <p:spPr>
          <a:xfrm>
            <a:off x="2972136" y="3042415"/>
            <a:ext cx="1291692" cy="338554"/>
          </a:xfrm>
          <a:prstGeom prst="rect">
            <a:avLst/>
          </a:prstGeom>
          <a:noFill/>
        </p:spPr>
        <p:txBody>
          <a:bodyPr wrap="square" lIns="91440" tIns="45720" rIns="91440" bIns="45720" rtlCol="0" anchor="t">
            <a:spAutoFit/>
          </a:bodyPr>
          <a:lstStyle/>
          <a:p>
            <a:r>
              <a:rPr lang="en-US" sz="1600">
                <a:solidFill>
                  <a:schemeClr val="bg1"/>
                </a:solidFill>
              </a:rPr>
              <a:t>&lt;&lt;</a:t>
            </a:r>
            <a:r>
              <a:rPr lang="en-US" sz="1600" b="1">
                <a:solidFill>
                  <a:schemeClr val="bg1"/>
                </a:solidFill>
              </a:rPr>
              <a:t>Extend</a:t>
            </a:r>
            <a:r>
              <a:rPr lang="en-US" sz="1600">
                <a:solidFill>
                  <a:schemeClr val="bg1"/>
                </a:solidFill>
              </a:rPr>
              <a:t>&gt;&gt;</a:t>
            </a:r>
            <a:endParaRPr lang="en-US" sz="1600">
              <a:solidFill>
                <a:schemeClr val="bg1"/>
              </a:solidFill>
              <a:ea typeface="Calibri"/>
              <a:cs typeface="Calibri"/>
            </a:endParaRPr>
          </a:p>
        </p:txBody>
      </p:sp>
      <p:pic>
        <p:nvPicPr>
          <p:cNvPr id="63" name="Picture 62">
            <a:extLst>
              <a:ext uri="{FF2B5EF4-FFF2-40B4-BE49-F238E27FC236}">
                <a16:creationId xmlns:a16="http://schemas.microsoft.com/office/drawing/2014/main" id="{DF3CABEC-6BB4-AA79-74E5-A4F4C184706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437076" y="2331720"/>
            <a:ext cx="419007" cy="834104"/>
          </a:xfrm>
          <a:prstGeom prst="rect">
            <a:avLst/>
          </a:prstGeom>
        </p:spPr>
      </p:pic>
      <p:pic>
        <p:nvPicPr>
          <p:cNvPr id="67" name="Picture 66">
            <a:extLst>
              <a:ext uri="{FF2B5EF4-FFF2-40B4-BE49-F238E27FC236}">
                <a16:creationId xmlns:a16="http://schemas.microsoft.com/office/drawing/2014/main" id="{0ADD8CF6-BB6A-6544-69C0-7F34FAB4663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45567" y="2331720"/>
            <a:ext cx="419007" cy="8341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228600"/>
            <a:ext cx="64008"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
            <a:ext cx="9144000" cy="594360"/>
          </a:xfrm>
          <a:prstGeom prst="rect">
            <a:avLst/>
          </a:prstGeom>
          <a:noFill/>
        </p:spPr>
        <p:txBody>
          <a:bodyPr wrap="square">
            <a:spAutoFit/>
          </a:bodyPr>
          <a:lstStyle/>
          <a:p>
            <a:pPr algn="l"/>
            <a:r>
              <a:rPr sz="2800" b="1" i="0">
                <a:solidFill>
                  <a:srgbClr val="FFFFFF"/>
                </a:solidFill>
              </a:rPr>
              <a:t>Process Flow — Joining a Workout Group</a:t>
            </a:r>
          </a:p>
        </p:txBody>
      </p:sp>
      <p:sp>
        <p:nvSpPr>
          <p:cNvPr id="5" name="Oval 4"/>
          <p:cNvSpPr/>
          <p:nvPr/>
        </p:nvSpPr>
        <p:spPr>
          <a:xfrm>
            <a:off x="2221787" y="777240"/>
            <a:ext cx="82296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21787" y="777240"/>
            <a:ext cx="822960" cy="411480"/>
          </a:xfrm>
          <a:prstGeom prst="rect">
            <a:avLst/>
          </a:prstGeom>
          <a:noFill/>
        </p:spPr>
        <p:txBody>
          <a:bodyPr wrap="square">
            <a:spAutoFit/>
          </a:bodyPr>
          <a:lstStyle/>
          <a:p>
            <a:pPr algn="ctr"/>
            <a:r>
              <a:rPr sz="1100" b="1" i="0">
                <a:solidFill>
                  <a:srgbClr val="FFFFFF"/>
                </a:solidFill>
              </a:rPr>
              <a:t>START</a:t>
            </a:r>
          </a:p>
        </p:txBody>
      </p:sp>
      <p:cxnSp>
        <p:nvCxnSpPr>
          <p:cNvPr id="7" name="Connector 6"/>
          <p:cNvCxnSpPr/>
          <p:nvPr/>
        </p:nvCxnSpPr>
        <p:spPr>
          <a:xfrm>
            <a:off x="2633267" y="1188720"/>
            <a:ext cx="0" cy="14630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261667" y="1435607"/>
            <a:ext cx="2743200" cy="530352"/>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61667" y="1453895"/>
            <a:ext cx="2743200" cy="530352"/>
          </a:xfrm>
          <a:prstGeom prst="rect">
            <a:avLst/>
          </a:prstGeom>
          <a:noFill/>
        </p:spPr>
        <p:txBody>
          <a:bodyPr wrap="square">
            <a:spAutoFit/>
          </a:bodyPr>
          <a:lstStyle/>
          <a:p>
            <a:pPr algn="ctr"/>
            <a:r>
              <a:rPr sz="1200" b="0" i="0">
                <a:solidFill>
                  <a:srgbClr val="FFFFFF"/>
                </a:solidFill>
              </a:rPr>
              <a:t>Student logs in
&amp; searches groups</a:t>
            </a:r>
          </a:p>
        </p:txBody>
      </p:sp>
      <p:cxnSp>
        <p:nvCxnSpPr>
          <p:cNvPr id="10" name="Connector 9"/>
          <p:cNvCxnSpPr/>
          <p:nvPr/>
        </p:nvCxnSpPr>
        <p:spPr>
          <a:xfrm>
            <a:off x="2633267" y="1965960"/>
            <a:ext cx="0" cy="14630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261667" y="2093976"/>
            <a:ext cx="2743200" cy="530352"/>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61667" y="2112264"/>
            <a:ext cx="2743200" cy="530352"/>
          </a:xfrm>
          <a:prstGeom prst="rect">
            <a:avLst/>
          </a:prstGeom>
          <a:noFill/>
        </p:spPr>
        <p:txBody>
          <a:bodyPr wrap="square">
            <a:spAutoFit/>
          </a:bodyPr>
          <a:lstStyle/>
          <a:p>
            <a:pPr algn="ctr"/>
            <a:r>
              <a:rPr sz="1200" b="0" i="0">
                <a:solidFill>
                  <a:srgbClr val="FFFFFF"/>
                </a:solidFill>
              </a:rPr>
              <a:t>Browse available
groups by goal / schedule</a:t>
            </a:r>
          </a:p>
        </p:txBody>
      </p:sp>
      <p:cxnSp>
        <p:nvCxnSpPr>
          <p:cNvPr id="13" name="Connector 12"/>
          <p:cNvCxnSpPr/>
          <p:nvPr/>
        </p:nvCxnSpPr>
        <p:spPr>
          <a:xfrm>
            <a:off x="2633267" y="2624328"/>
            <a:ext cx="0" cy="14630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1627427" y="2706624"/>
            <a:ext cx="2011680" cy="548640"/>
          </a:xfrm>
          <a:prstGeom prst="diamond">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27427" y="2805871"/>
            <a:ext cx="2011680" cy="640080"/>
          </a:xfrm>
          <a:prstGeom prst="rect">
            <a:avLst/>
          </a:prstGeom>
          <a:noFill/>
        </p:spPr>
        <p:txBody>
          <a:bodyPr wrap="square">
            <a:spAutoFit/>
          </a:bodyPr>
          <a:lstStyle/>
          <a:p>
            <a:pPr algn="ctr"/>
            <a:r>
              <a:rPr sz="1100" b="1" i="0">
                <a:solidFill>
                  <a:srgbClr val="1A1A2E"/>
                </a:solidFill>
              </a:rPr>
              <a:t>Group has &lt; 5
members?</a:t>
            </a:r>
          </a:p>
        </p:txBody>
      </p:sp>
      <p:sp>
        <p:nvSpPr>
          <p:cNvPr id="16" name="TextBox 15"/>
          <p:cNvSpPr txBox="1"/>
          <p:nvPr/>
        </p:nvSpPr>
        <p:spPr>
          <a:xfrm>
            <a:off x="3639107" y="2752344"/>
            <a:ext cx="4114800" cy="457200"/>
          </a:xfrm>
          <a:prstGeom prst="rect">
            <a:avLst/>
          </a:prstGeom>
          <a:noFill/>
        </p:spPr>
        <p:txBody>
          <a:bodyPr wrap="square">
            <a:spAutoFit/>
          </a:bodyPr>
          <a:lstStyle/>
          <a:p>
            <a:pPr algn="l"/>
            <a:r>
              <a:rPr sz="1100" b="0" i="0">
                <a:solidFill>
                  <a:srgbClr val="E75555"/>
                </a:solidFill>
              </a:rPr>
              <a:t>No  -&gt;  Show "group full" or "request denied"</a:t>
            </a:r>
          </a:p>
        </p:txBody>
      </p:sp>
      <p:cxnSp>
        <p:nvCxnSpPr>
          <p:cNvPr id="17" name="Connector 16"/>
          <p:cNvCxnSpPr/>
          <p:nvPr/>
        </p:nvCxnSpPr>
        <p:spPr>
          <a:xfrm>
            <a:off x="2633267" y="3255264"/>
            <a:ext cx="0" cy="14630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261667" y="3410712"/>
            <a:ext cx="2743200" cy="530352"/>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61667" y="3429000"/>
            <a:ext cx="2743200" cy="530352"/>
          </a:xfrm>
          <a:prstGeom prst="rect">
            <a:avLst/>
          </a:prstGeom>
          <a:noFill/>
        </p:spPr>
        <p:txBody>
          <a:bodyPr wrap="square">
            <a:spAutoFit/>
          </a:bodyPr>
          <a:lstStyle/>
          <a:p>
            <a:pPr algn="ctr"/>
            <a:r>
              <a:rPr sz="1200" b="0" i="0">
                <a:solidFill>
                  <a:srgbClr val="FFFFFF"/>
                </a:solidFill>
              </a:rPr>
              <a:t>Send join request
to group creator</a:t>
            </a:r>
          </a:p>
        </p:txBody>
      </p:sp>
      <p:cxnSp>
        <p:nvCxnSpPr>
          <p:cNvPr id="20" name="Connector 19"/>
          <p:cNvCxnSpPr/>
          <p:nvPr/>
        </p:nvCxnSpPr>
        <p:spPr>
          <a:xfrm>
            <a:off x="2633267" y="3941063"/>
            <a:ext cx="0" cy="14630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21" name="Diamond 20"/>
          <p:cNvSpPr/>
          <p:nvPr/>
        </p:nvSpPr>
        <p:spPr>
          <a:xfrm>
            <a:off x="1627427" y="4023359"/>
            <a:ext cx="2011680" cy="548640"/>
          </a:xfrm>
          <a:prstGeom prst="diamond">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627427" y="4033394"/>
            <a:ext cx="2011680" cy="640080"/>
          </a:xfrm>
          <a:prstGeom prst="rect">
            <a:avLst/>
          </a:prstGeom>
          <a:noFill/>
        </p:spPr>
        <p:txBody>
          <a:bodyPr wrap="square">
            <a:spAutoFit/>
          </a:bodyPr>
          <a:lstStyle/>
          <a:p>
            <a:pPr algn="ctr"/>
            <a:r>
              <a:rPr sz="1100" b="1" i="0">
                <a:solidFill>
                  <a:srgbClr val="1A1A2E"/>
                </a:solidFill>
              </a:rPr>
              <a:t>Creator
approves?</a:t>
            </a:r>
          </a:p>
        </p:txBody>
      </p:sp>
      <p:sp>
        <p:nvSpPr>
          <p:cNvPr id="23" name="TextBox 22"/>
          <p:cNvSpPr txBox="1"/>
          <p:nvPr/>
        </p:nvSpPr>
        <p:spPr>
          <a:xfrm>
            <a:off x="3639107" y="4069079"/>
            <a:ext cx="4114800" cy="457200"/>
          </a:xfrm>
          <a:prstGeom prst="rect">
            <a:avLst/>
          </a:prstGeom>
          <a:noFill/>
        </p:spPr>
        <p:txBody>
          <a:bodyPr wrap="square">
            <a:spAutoFit/>
          </a:bodyPr>
          <a:lstStyle/>
          <a:p>
            <a:pPr algn="l"/>
            <a:r>
              <a:rPr sz="1100" b="0" i="0">
                <a:solidFill>
                  <a:srgbClr val="E75555"/>
                </a:solidFill>
              </a:rPr>
              <a:t>No  -&gt;  Show "group full" or "request denied"</a:t>
            </a:r>
          </a:p>
        </p:txBody>
      </p:sp>
      <p:cxnSp>
        <p:nvCxnSpPr>
          <p:cNvPr id="24" name="Connector 23"/>
          <p:cNvCxnSpPr/>
          <p:nvPr/>
        </p:nvCxnSpPr>
        <p:spPr>
          <a:xfrm>
            <a:off x="2633267" y="4571999"/>
            <a:ext cx="0" cy="146304"/>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261667" y="4727448"/>
            <a:ext cx="2743200" cy="530352"/>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61667" y="4745736"/>
            <a:ext cx="2743200" cy="530352"/>
          </a:xfrm>
          <a:prstGeom prst="rect">
            <a:avLst/>
          </a:prstGeom>
          <a:noFill/>
        </p:spPr>
        <p:txBody>
          <a:bodyPr wrap="square">
            <a:spAutoFit/>
          </a:bodyPr>
          <a:lstStyle/>
          <a:p>
            <a:pPr algn="ctr"/>
            <a:r>
              <a:rPr sz="1200" b="0" i="0">
                <a:solidFill>
                  <a:srgbClr val="FFFFFF"/>
                </a:solidFill>
              </a:rPr>
              <a:t>Student added
to membership</a:t>
            </a:r>
          </a:p>
        </p:txBody>
      </p:sp>
      <p:cxnSp>
        <p:nvCxnSpPr>
          <p:cNvPr id="27" name="Connector 26"/>
          <p:cNvCxnSpPr/>
          <p:nvPr/>
        </p:nvCxnSpPr>
        <p:spPr>
          <a:xfrm>
            <a:off x="2633267" y="5257800"/>
            <a:ext cx="0" cy="146303"/>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261667" y="5385816"/>
            <a:ext cx="2743200" cy="53035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61667" y="5404103"/>
            <a:ext cx="2743200" cy="530352"/>
          </a:xfrm>
          <a:prstGeom prst="rect">
            <a:avLst/>
          </a:prstGeom>
          <a:noFill/>
        </p:spPr>
        <p:txBody>
          <a:bodyPr wrap="square">
            <a:spAutoFit/>
          </a:bodyPr>
          <a:lstStyle/>
          <a:p>
            <a:pPr algn="ctr"/>
            <a:r>
              <a:rPr sz="1200" b="0" i="0">
                <a:solidFill>
                  <a:srgbClr val="FFFFFF"/>
                </a:solidFill>
              </a:rPr>
              <a:t>Session scheduled
&amp; confirmed</a:t>
            </a:r>
          </a:p>
        </p:txBody>
      </p:sp>
      <p:cxnSp>
        <p:nvCxnSpPr>
          <p:cNvPr id="30" name="Connector 29"/>
          <p:cNvCxnSpPr/>
          <p:nvPr/>
        </p:nvCxnSpPr>
        <p:spPr>
          <a:xfrm>
            <a:off x="2633267" y="5916168"/>
            <a:ext cx="0" cy="146303"/>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2201624" y="6064354"/>
            <a:ext cx="822960" cy="41148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41951" y="6124865"/>
            <a:ext cx="822960" cy="411480"/>
          </a:xfrm>
          <a:prstGeom prst="rect">
            <a:avLst/>
          </a:prstGeom>
          <a:noFill/>
        </p:spPr>
        <p:txBody>
          <a:bodyPr wrap="square">
            <a:spAutoFit/>
          </a:bodyPr>
          <a:lstStyle/>
          <a:p>
            <a:pPr algn="ctr"/>
            <a:r>
              <a:rPr sz="1100" b="1" i="0">
                <a:solidFill>
                  <a:srgbClr val="FFFFFF"/>
                </a:solidFill>
              </a:rPr>
              <a:t>END</a:t>
            </a:r>
          </a:p>
        </p:txBody>
      </p:sp>
      <p:sp>
        <p:nvSpPr>
          <p:cNvPr id="33" name="TextBox 32"/>
          <p:cNvSpPr txBox="1"/>
          <p:nvPr/>
        </p:nvSpPr>
        <p:spPr>
          <a:xfrm>
            <a:off x="457200" y="6400800"/>
            <a:ext cx="11247120" cy="261610"/>
          </a:xfrm>
          <a:prstGeom prst="rect">
            <a:avLst/>
          </a:prstGeom>
          <a:noFill/>
        </p:spPr>
        <p:txBody>
          <a:bodyPr wrap="square" lIns="91440" tIns="45720" rIns="91440" bIns="45720" anchor="t">
            <a:spAutoFit/>
          </a:bodyPr>
          <a:lstStyle/>
          <a:p>
            <a:pPr algn="ctr"/>
            <a:r>
              <a:rPr lang="en-US" sz="1100" b="1" i="0">
                <a:solidFill>
                  <a:schemeClr val="bg1"/>
                </a:solidFill>
              </a:rPr>
              <a:t>Activity flow shows the complete path a student takes from searching to confirmed group membership</a:t>
            </a:r>
            <a:endParaRPr lang="en-US" sz="1100" b="1" i="0">
              <a:solidFill>
                <a:schemeClr val="bg1"/>
              </a:solidFill>
              <a:ea typeface="Calibri"/>
              <a:cs typeface="Calibri"/>
            </a:endParaRPr>
          </a:p>
        </p:txBody>
      </p:sp>
      <p:pic>
        <p:nvPicPr>
          <p:cNvPr id="34" name="Picture 33" descr="A diagram of a system&#10;&#10;AI-generated content may be incorrect.">
            <a:extLst>
              <a:ext uri="{FF2B5EF4-FFF2-40B4-BE49-F238E27FC236}">
                <a16:creationId xmlns:a16="http://schemas.microsoft.com/office/drawing/2014/main" id="{D83CC748-1086-713F-08DD-D85B0AC0B77C}"/>
              </a:ext>
            </a:extLst>
          </p:cNvPr>
          <p:cNvPicPr>
            <a:picLocks noChangeAspect="1"/>
          </p:cNvPicPr>
          <p:nvPr/>
        </p:nvPicPr>
        <p:blipFill>
          <a:blip r:embed="rId2"/>
          <a:stretch>
            <a:fillRect/>
          </a:stretch>
        </p:blipFill>
        <p:spPr>
          <a:xfrm>
            <a:off x="6689189" y="978274"/>
            <a:ext cx="5302528" cy="50123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4</cp:revision>
  <dcterms:created xsi:type="dcterms:W3CDTF">2013-01-27T09:14:16Z</dcterms:created>
  <dcterms:modified xsi:type="dcterms:W3CDTF">2026-05-05T23:59:17Z</dcterms:modified>
  <cp:category/>
</cp:coreProperties>
</file>